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walks through how we collected the data from the Open Library API, how we cleaned and transformed it, and what the visualizations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call the Open Library Subjects API for each genre. If the server says we are sending too many requests (status 429), the script waits a little longer each time and tries again. From the JSON response we keep only the fields we need and save them as a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book we make four more API calls at the same time using asyncio: ratings, reader shelves, editions for page count, and author details. A semaphore limits us to 25 requests at once, author results are cached, and progress is saved every 30 books so the script can resume.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rows from our CSV. Pink values are problems: a publish year of 0, a novel with 1 page, an author name repeated twice, 1800 used as a placeholder year, Americanah listed as 1969 although the author was born in 1977, and dates written in many formats. This is why wrangling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 clean text: repeated author names and notes like 'Adapted by' are removed. Genre keys like science_fiction become readable labels. Author dates came in 37 formats, so we parse each one and write it as YYYY-MM-DD.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find values that cannot be true: year 0, placeholder years 1800 and 1900, books published before the author was born, 0.0 ratings with zero votes, and page counts under 30. We set them to missing instead of guessing. Books with the same title and author are merged, keeping the most complete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enrichment finished for only 419 books, so we flag those rows instead of filling fake averages. Missing page counts for enriched books are filled with the genre median and marked as imputed. Then we add new columns such as decade, total readers and length category. The final dataset has 2,075 rows and 33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chart uses the same dark theme so it fits our slides. For example, value_counts gives the number of books per genre, and a bar chart shows it. The genres are close in size, so comparing them is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donut shows each genre's share, all between 11 and 14 percent. The line chart counts books per decade: publishing grows strongly after 1950 and peaks in the 2000s.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the enriched books, groupby gives the average rating per genre; Young Adult is highest. nlargest finds the ten books most people want to read; Fifty Shades of Grey and Twilight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takeaways: books with many editions are not rated higher, publishing peaked in the 2000s, most books have a free ebook, and a typical book is about 300 pages. Rating insights come from the 419 books where enrichment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685800"/>
            <a:ext cx="5486400" cy="274320"/>
          </a:xfrm>
          <a:prstGeom prst="rect">
            <a:avLst/>
          </a:prstGeom>
          <a:noFill/>
          <a:ln/>
        </p:spPr>
        <p:txBody>
          <a:bodyPr wrap="square" lIns="0" tIns="0" rIns="0" bIns="0" rtlCol="0" anchor="ctr"/>
          <a:lstStyle/>
          <a:p>
            <a:pPr indent="0" marL="0">
              <a:buNone/>
            </a:pPr>
            <a:r>
              <a:rPr lang="en-US" sz="1100" b="1" spc="400" kern="0" dirty="0">
                <a:solidFill>
                  <a:srgbClr val="00D4FF"/>
                </a:solidFill>
                <a:latin typeface="Calibri" pitchFamily="34" charset="0"/>
                <a:ea typeface="Calibri" pitchFamily="34" charset="-122"/>
                <a:cs typeface="Calibri" pitchFamily="34" charset="-120"/>
              </a:rPr>
              <a:t>DATA SCIENCE  •  BOOK ANALYTICS</a:t>
            </a:r>
            <a:endParaRPr lang="en-US" sz="1100" dirty="0"/>
          </a:p>
        </p:txBody>
      </p:sp>
      <p:sp>
        <p:nvSpPr>
          <p:cNvPr id="3" name="Text 1"/>
          <p:cNvSpPr txBox="1"/>
          <p:nvPr/>
        </p:nvSpPr>
        <p:spPr>
          <a:xfrm>
            <a:off x="457200" y="1051560"/>
            <a:ext cx="8229600" cy="13716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From Raw API Data</a:t>
            </a:r>
            <a:endParaRPr lang="en-US" sz="4400" dirty="0"/>
          </a:p>
          <a:p>
            <a:pPr indent="0" marL="0">
              <a:buNone/>
            </a:pPr>
            <a:r>
              <a:rPr lang="en-US" sz="4400" b="1" dirty="0">
                <a:solidFill>
                  <a:srgbClr val="00D4FF"/>
                </a:solidFill>
                <a:latin typeface="Calibri" pitchFamily="34" charset="0"/>
                <a:ea typeface="Calibri" pitchFamily="34" charset="-122"/>
                <a:cs typeface="Calibri" pitchFamily="34" charset="-120"/>
              </a:rPr>
              <a:t>to Insight</a:t>
            </a:r>
            <a:endParaRPr lang="en-US" sz="4400" dirty="0"/>
          </a:p>
        </p:txBody>
      </p:sp>
      <p:sp>
        <p:nvSpPr>
          <p:cNvPr id="4" name="Text 2"/>
          <p:cNvSpPr txBox="1"/>
          <p:nvPr/>
        </p:nvSpPr>
        <p:spPr>
          <a:xfrm>
            <a:off x="457200" y="2468880"/>
            <a:ext cx="8229600" cy="320040"/>
          </a:xfrm>
          <a:prstGeom prst="rect">
            <a:avLst/>
          </a:prstGeom>
          <a:noFill/>
          <a:ln/>
        </p:spPr>
        <p:txBody>
          <a:bodyPr wrap="square" lIns="0" tIns="0" rIns="0" bIns="0" rtlCol="0" anchor="ctr"/>
          <a:lstStyle/>
          <a:p>
            <a:pPr indent="0" marL="0">
              <a:buNone/>
            </a:pPr>
            <a:r>
              <a:rPr lang="en-US" sz="1500" i="1" dirty="0">
                <a:solidFill>
                  <a:srgbClr val="A9BCE0"/>
                </a:solidFill>
                <a:latin typeface="Calibri" pitchFamily="34" charset="0"/>
                <a:ea typeface="Calibri" pitchFamily="34" charset="-122"/>
                <a:cs typeface="Calibri" pitchFamily="34" charset="-120"/>
              </a:rPr>
              <a:t>Data Collection  •  Data Wrangling  •  Visualization on the Open Library book dataset</a:t>
            </a:r>
            <a:endParaRPr lang="en-US" sz="1500" dirty="0"/>
          </a:p>
        </p:txBody>
      </p:sp>
      <p:sp>
        <p:nvSpPr>
          <p:cNvPr id="5" name="Shape 3"/>
          <p:cNvSpPr/>
          <p:nvPr/>
        </p:nvSpPr>
        <p:spPr>
          <a:xfrm>
            <a:off x="457200" y="3154680"/>
            <a:ext cx="1874520" cy="1143000"/>
          </a:xfrm>
          <a:prstGeom prst="roundRect">
            <a:avLst>
              <a:gd name="adj" fmla="val 8000"/>
            </a:avLst>
          </a:prstGeom>
          <a:solidFill>
            <a:srgbClr val="1A2550">
              <a:alpha val="75000"/>
            </a:srgbClr>
          </a:solidFill>
          <a:ln w="12700">
            <a:solidFill>
              <a:srgbClr val="00D4FF"/>
            </a:solidFill>
            <a:prstDash val="solid"/>
          </a:ln>
        </p:spPr>
      </p:sp>
      <p:sp>
        <p:nvSpPr>
          <p:cNvPr id="6" name="Text 4"/>
          <p:cNvSpPr txBox="1"/>
          <p:nvPr/>
        </p:nvSpPr>
        <p:spPr>
          <a:xfrm>
            <a:off x="640080" y="3291840"/>
            <a:ext cx="1554480" cy="548640"/>
          </a:xfrm>
          <a:prstGeom prst="rect">
            <a:avLst/>
          </a:prstGeom>
          <a:noFill/>
          <a:ln/>
        </p:spPr>
        <p:txBody>
          <a:bodyPr wrap="square" lIns="0" tIns="0" rIns="0" bIns="0" rtlCol="0" anchor="ctr"/>
          <a:lstStyle/>
          <a:p>
            <a:pPr indent="0" marL="0">
              <a:buNone/>
            </a:pPr>
            <a:r>
              <a:rPr lang="en-US" sz="3200" b="1" dirty="0">
                <a:solidFill>
                  <a:srgbClr val="00D4FF"/>
                </a:solidFill>
                <a:latin typeface="Calibri" pitchFamily="34" charset="0"/>
                <a:ea typeface="Calibri" pitchFamily="34" charset="-122"/>
                <a:cs typeface="Calibri" pitchFamily="34" charset="-120"/>
              </a:rPr>
              <a:t>2,081</a:t>
            </a:r>
            <a:endParaRPr lang="en-US" sz="3200" dirty="0"/>
          </a:p>
        </p:txBody>
      </p:sp>
      <p:sp>
        <p:nvSpPr>
          <p:cNvPr id="7" name="Text 5"/>
          <p:cNvSpPr txBox="1"/>
          <p:nvPr/>
        </p:nvSpPr>
        <p:spPr>
          <a:xfrm>
            <a:off x="640080" y="3840480"/>
            <a:ext cx="155448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books collected</a:t>
            </a:r>
            <a:endParaRPr lang="en-US" sz="1200" dirty="0"/>
          </a:p>
        </p:txBody>
      </p:sp>
      <p:sp>
        <p:nvSpPr>
          <p:cNvPr id="8" name="Shape 6"/>
          <p:cNvSpPr/>
          <p:nvPr/>
        </p:nvSpPr>
        <p:spPr>
          <a:xfrm>
            <a:off x="2560320" y="3154680"/>
            <a:ext cx="1874520" cy="1143000"/>
          </a:xfrm>
          <a:prstGeom prst="roundRect">
            <a:avLst>
              <a:gd name="adj" fmla="val 8000"/>
            </a:avLst>
          </a:prstGeom>
          <a:solidFill>
            <a:srgbClr val="1A2550">
              <a:alpha val="75000"/>
            </a:srgbClr>
          </a:solidFill>
          <a:ln w="12700">
            <a:solidFill>
              <a:srgbClr val="00D4FF"/>
            </a:solidFill>
            <a:prstDash val="solid"/>
          </a:ln>
        </p:spPr>
      </p:sp>
      <p:sp>
        <p:nvSpPr>
          <p:cNvPr id="9" name="Text 7"/>
          <p:cNvSpPr txBox="1"/>
          <p:nvPr/>
        </p:nvSpPr>
        <p:spPr>
          <a:xfrm>
            <a:off x="2743200" y="3291840"/>
            <a:ext cx="1554480" cy="548640"/>
          </a:xfrm>
          <a:prstGeom prst="rect">
            <a:avLst/>
          </a:prstGeom>
          <a:noFill/>
          <a:ln/>
        </p:spPr>
        <p:txBody>
          <a:bodyPr wrap="square" lIns="0" tIns="0" rIns="0" bIns="0" rtlCol="0" anchor="ctr"/>
          <a:lstStyle/>
          <a:p>
            <a:pPr indent="0" marL="0">
              <a:buNone/>
            </a:pPr>
            <a:r>
              <a:rPr lang="en-US" sz="3200" b="1" dirty="0">
                <a:solidFill>
                  <a:srgbClr val="00D4FF"/>
                </a:solidFill>
                <a:latin typeface="Calibri" pitchFamily="34" charset="0"/>
                <a:ea typeface="Calibri" pitchFamily="34" charset="-122"/>
                <a:cs typeface="Calibri" pitchFamily="34" charset="-120"/>
              </a:rPr>
              <a:t>8</a:t>
            </a:r>
            <a:endParaRPr lang="en-US" sz="3200" dirty="0"/>
          </a:p>
        </p:txBody>
      </p:sp>
      <p:sp>
        <p:nvSpPr>
          <p:cNvPr id="10" name="Text 8"/>
          <p:cNvSpPr txBox="1"/>
          <p:nvPr/>
        </p:nvSpPr>
        <p:spPr>
          <a:xfrm>
            <a:off x="2743200" y="3840480"/>
            <a:ext cx="155448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genres</a:t>
            </a:r>
            <a:endParaRPr lang="en-US" sz="1200" dirty="0"/>
          </a:p>
        </p:txBody>
      </p:sp>
      <p:sp>
        <p:nvSpPr>
          <p:cNvPr id="11" name="Shape 9"/>
          <p:cNvSpPr/>
          <p:nvPr/>
        </p:nvSpPr>
        <p:spPr>
          <a:xfrm>
            <a:off x="4663440" y="3154680"/>
            <a:ext cx="1874520" cy="1143000"/>
          </a:xfrm>
          <a:prstGeom prst="roundRect">
            <a:avLst>
              <a:gd name="adj" fmla="val 8000"/>
            </a:avLst>
          </a:prstGeom>
          <a:solidFill>
            <a:srgbClr val="1A2550">
              <a:alpha val="75000"/>
            </a:srgbClr>
          </a:solidFill>
          <a:ln w="12700">
            <a:solidFill>
              <a:srgbClr val="00D4FF"/>
            </a:solidFill>
            <a:prstDash val="solid"/>
          </a:ln>
        </p:spPr>
      </p:sp>
      <p:sp>
        <p:nvSpPr>
          <p:cNvPr id="12" name="Text 10"/>
          <p:cNvSpPr txBox="1"/>
          <p:nvPr/>
        </p:nvSpPr>
        <p:spPr>
          <a:xfrm>
            <a:off x="4846320" y="3291840"/>
            <a:ext cx="1554480" cy="548640"/>
          </a:xfrm>
          <a:prstGeom prst="rect">
            <a:avLst/>
          </a:prstGeom>
          <a:noFill/>
          <a:ln/>
        </p:spPr>
        <p:txBody>
          <a:bodyPr wrap="square" lIns="0" tIns="0" rIns="0" bIns="0" rtlCol="0" anchor="ctr"/>
          <a:lstStyle/>
          <a:p>
            <a:pPr indent="0" marL="0">
              <a:buNone/>
            </a:pPr>
            <a:r>
              <a:rPr lang="en-US" sz="3200" b="1" dirty="0">
                <a:solidFill>
                  <a:srgbClr val="00D4FF"/>
                </a:solidFill>
                <a:latin typeface="Calibri" pitchFamily="34" charset="0"/>
                <a:ea typeface="Calibri" pitchFamily="34" charset="-122"/>
                <a:cs typeface="Calibri" pitchFamily="34" charset="-120"/>
              </a:rPr>
              <a:t>33</a:t>
            </a:r>
            <a:endParaRPr lang="en-US" sz="3200" dirty="0"/>
          </a:p>
        </p:txBody>
      </p:sp>
      <p:sp>
        <p:nvSpPr>
          <p:cNvPr id="13" name="Text 11"/>
          <p:cNvSpPr txBox="1"/>
          <p:nvPr/>
        </p:nvSpPr>
        <p:spPr>
          <a:xfrm>
            <a:off x="4846320" y="3840480"/>
            <a:ext cx="155448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clean columns</a:t>
            </a:r>
            <a:endParaRPr lang="en-US" sz="1200" dirty="0"/>
          </a:p>
        </p:txBody>
      </p:sp>
      <p:sp>
        <p:nvSpPr>
          <p:cNvPr id="14" name="Shape 12"/>
          <p:cNvSpPr/>
          <p:nvPr/>
        </p:nvSpPr>
        <p:spPr>
          <a:xfrm>
            <a:off x="6766560" y="3154680"/>
            <a:ext cx="1874520" cy="1143000"/>
          </a:xfrm>
          <a:prstGeom prst="roundRect">
            <a:avLst>
              <a:gd name="adj" fmla="val 8000"/>
            </a:avLst>
          </a:prstGeom>
          <a:solidFill>
            <a:srgbClr val="1A2550">
              <a:alpha val="75000"/>
            </a:srgbClr>
          </a:solidFill>
          <a:ln w="12700">
            <a:solidFill>
              <a:srgbClr val="00D4FF"/>
            </a:solidFill>
            <a:prstDash val="solid"/>
          </a:ln>
        </p:spPr>
      </p:sp>
      <p:sp>
        <p:nvSpPr>
          <p:cNvPr id="15" name="Text 13"/>
          <p:cNvSpPr txBox="1"/>
          <p:nvPr/>
        </p:nvSpPr>
        <p:spPr>
          <a:xfrm>
            <a:off x="6949440" y="3291840"/>
            <a:ext cx="1554480" cy="548640"/>
          </a:xfrm>
          <a:prstGeom prst="rect">
            <a:avLst/>
          </a:prstGeom>
          <a:noFill/>
          <a:ln/>
        </p:spPr>
        <p:txBody>
          <a:bodyPr wrap="square" lIns="0" tIns="0" rIns="0" bIns="0" rtlCol="0" anchor="ctr"/>
          <a:lstStyle/>
          <a:p>
            <a:pPr indent="0" marL="0">
              <a:buNone/>
            </a:pPr>
            <a:r>
              <a:rPr lang="en-US" sz="3200" b="1" dirty="0">
                <a:solidFill>
                  <a:srgbClr val="00D4FF"/>
                </a:solidFill>
                <a:latin typeface="Calibri" pitchFamily="34" charset="0"/>
                <a:ea typeface="Calibri" pitchFamily="34" charset="-122"/>
                <a:cs typeface="Calibri" pitchFamily="34" charset="-120"/>
              </a:rPr>
              <a:t>10</a:t>
            </a:r>
            <a:endParaRPr lang="en-US" sz="3200" dirty="0"/>
          </a:p>
        </p:txBody>
      </p:sp>
      <p:sp>
        <p:nvSpPr>
          <p:cNvPr id="16" name="Text 14"/>
          <p:cNvSpPr txBox="1"/>
          <p:nvPr/>
        </p:nvSpPr>
        <p:spPr>
          <a:xfrm>
            <a:off x="6949440" y="3840480"/>
            <a:ext cx="155448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charts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56032"/>
          </a:xfrm>
          <a:prstGeom prst="rect">
            <a:avLst/>
          </a:prstGeom>
          <a:noFill/>
          <a:ln/>
        </p:spPr>
        <p:txBody>
          <a:bodyPr wrap="square" lIns="0" tIns="0" rIns="0" bIns="0" rtlCol="0" anchor="ctr"/>
          <a:lstStyle/>
          <a:p>
            <a:pPr indent="0" marL="0">
              <a:buNone/>
            </a:pPr>
            <a:r>
              <a:rPr lang="en-US" sz="1000" b="1" spc="400" kern="0" dirty="0">
                <a:solidFill>
                  <a:srgbClr val="00D4FF"/>
                </a:solidFill>
                <a:latin typeface="Calibri" pitchFamily="34" charset="0"/>
                <a:ea typeface="Calibri" pitchFamily="34" charset="-122"/>
                <a:cs typeface="Calibri" pitchFamily="34" charset="-120"/>
              </a:rPr>
              <a:t>OUR WORKFLOW</a:t>
            </a:r>
            <a:endParaRPr lang="en-US" sz="1000" dirty="0"/>
          </a:p>
        </p:txBody>
      </p:sp>
      <p:sp>
        <p:nvSpPr>
          <p:cNvPr id="3" name="Text 1"/>
          <p:cNvSpPr txBox="1"/>
          <p:nvPr/>
        </p:nvSpPr>
        <p:spPr>
          <a:xfrm>
            <a:off x="457200" y="530352"/>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Collection → Wrangling → Visualization</a:t>
            </a:r>
            <a:endParaRPr lang="en-US" sz="26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A9BCE0"/>
                </a:solidFill>
                <a:latin typeface="Calibri" pitchFamily="34" charset="0"/>
                <a:ea typeface="Calibri" pitchFamily="34" charset="-122"/>
                <a:cs typeface="Calibri" pitchFamily="34" charset="-120"/>
              </a:rPr>
              <a:t>02 / 12</a:t>
            </a:r>
            <a:endParaRPr lang="en-US" sz="900" dirty="0"/>
          </a:p>
        </p:txBody>
      </p:sp>
      <p:sp>
        <p:nvSpPr>
          <p:cNvPr id="5" name="Shape 3"/>
          <p:cNvSpPr/>
          <p:nvPr/>
        </p:nvSpPr>
        <p:spPr>
          <a:xfrm>
            <a:off x="457200" y="1371600"/>
            <a:ext cx="2514600" cy="3063240"/>
          </a:xfrm>
          <a:prstGeom prst="roundRect">
            <a:avLst>
              <a:gd name="adj" fmla="val 3636"/>
            </a:avLst>
          </a:prstGeom>
          <a:solidFill>
            <a:srgbClr val="1A2550">
              <a:alpha val="75000"/>
            </a:srgbClr>
          </a:solidFill>
          <a:ln w="12700">
            <a:solidFill>
              <a:srgbClr val="00D4FF"/>
            </a:solidFill>
            <a:prstDash val="solid"/>
          </a:ln>
        </p:spPr>
      </p:sp>
      <p:sp>
        <p:nvSpPr>
          <p:cNvPr id="6" name="Shape 4"/>
          <p:cNvSpPr/>
          <p:nvPr/>
        </p:nvSpPr>
        <p:spPr>
          <a:xfrm>
            <a:off x="658368" y="1572768"/>
            <a:ext cx="502920" cy="502920"/>
          </a:xfrm>
          <a:prstGeom prst="ellipse">
            <a:avLst/>
          </a:prstGeom>
          <a:solidFill>
            <a:srgbClr val="0E1A45"/>
          </a:solidFill>
          <a:ln w="15875">
            <a:solidFill>
              <a:srgbClr val="00D4FF"/>
            </a:solidFill>
            <a:prstDash val="solid"/>
          </a:ln>
        </p:spPr>
      </p:sp>
      <p:pic>
        <p:nvPicPr>
          <p:cNvPr id="7" name="Image 0" descr="preencoded.png">    </p:cNvPr>
          <p:cNvPicPr>
            <a:picLocks noChangeAspect="1"/>
          </p:cNvPicPr>
          <p:nvPr/>
        </p:nvPicPr>
        <p:blipFill>
          <a:blip r:embed="rId2"/>
          <a:stretch>
            <a:fillRect/>
          </a:stretch>
        </p:blipFill>
        <p:spPr>
          <a:xfrm>
            <a:off x="784098" y="1698498"/>
            <a:ext cx="251460" cy="251460"/>
          </a:xfrm>
          <a:prstGeom prst="rect">
            <a:avLst/>
          </a:prstGeom>
        </p:spPr>
      </p:pic>
      <p:sp>
        <p:nvSpPr>
          <p:cNvPr id="8" name="Text 5"/>
          <p:cNvSpPr txBox="1"/>
          <p:nvPr/>
        </p:nvSpPr>
        <p:spPr>
          <a:xfrm>
            <a:off x="1280160" y="1591056"/>
            <a:ext cx="1554480" cy="201168"/>
          </a:xfrm>
          <a:prstGeom prst="rect">
            <a:avLst/>
          </a:prstGeom>
          <a:noFill/>
          <a:ln/>
        </p:spPr>
        <p:txBody>
          <a:bodyPr wrap="square" lIns="0" tIns="0" rIns="0" bIns="0" rtlCol="0" anchor="ctr"/>
          <a:lstStyle/>
          <a:p>
            <a:pPr indent="0" marL="0">
              <a:buNone/>
            </a:pPr>
            <a:r>
              <a:rPr lang="en-US" sz="1000" b="1" dirty="0">
                <a:solidFill>
                  <a:srgbClr val="A9BCE0"/>
                </a:solidFill>
                <a:latin typeface="Calibri" pitchFamily="34" charset="0"/>
                <a:ea typeface="Calibri" pitchFamily="34" charset="-122"/>
                <a:cs typeface="Calibri" pitchFamily="34" charset="-120"/>
              </a:rPr>
              <a:t>01</a:t>
            </a:r>
            <a:endParaRPr lang="en-US" sz="1000" dirty="0"/>
          </a:p>
        </p:txBody>
      </p:sp>
      <p:sp>
        <p:nvSpPr>
          <p:cNvPr id="9" name="Text 6"/>
          <p:cNvSpPr txBox="1"/>
          <p:nvPr/>
        </p:nvSpPr>
        <p:spPr>
          <a:xfrm>
            <a:off x="1280160" y="1792224"/>
            <a:ext cx="1645920" cy="274320"/>
          </a:xfrm>
          <a:prstGeom prst="rect">
            <a:avLst/>
          </a:prstGeom>
          <a:noFill/>
          <a:ln/>
        </p:spPr>
        <p:txBody>
          <a:bodyPr wrap="square" lIns="0" tIns="0" rIns="0" bIns="0"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DATA COLLECTION</a:t>
            </a:r>
            <a:endParaRPr lang="en-US" sz="1300" dirty="0"/>
          </a:p>
        </p:txBody>
      </p:sp>
      <p:sp>
        <p:nvSpPr>
          <p:cNvPr id="10" name="Text 7"/>
          <p:cNvSpPr txBox="1"/>
          <p:nvPr/>
        </p:nvSpPr>
        <p:spPr>
          <a:xfrm>
            <a:off x="658368" y="2286000"/>
            <a:ext cx="2112264"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Open Library API</a:t>
            </a:r>
            <a:endParaRPr lang="en-US" sz="2000" dirty="0"/>
          </a:p>
        </p:txBody>
      </p:sp>
      <p:sp>
        <p:nvSpPr>
          <p:cNvPr id="11" name="Text 8"/>
          <p:cNvSpPr txBox="1"/>
          <p:nvPr/>
        </p:nvSpPr>
        <p:spPr>
          <a:xfrm>
            <a:off x="658368" y="2834640"/>
            <a:ext cx="2148840" cy="1463040"/>
          </a:xfrm>
          <a:prstGeom prst="rect">
            <a:avLst/>
          </a:prstGeom>
          <a:noFill/>
          <a:ln/>
        </p:spPr>
        <p:txBody>
          <a:bodyPr wrap="square" lIns="0" tIns="0" rIns="0" bIns="0" rtlCol="0" anchor="t"/>
          <a:lstStyle/>
          <a:p>
            <a:pPr marL="127000" indent="-1270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Subjects API for 8 genres</a:t>
            </a:r>
            <a:endParaRPr lang="en-US" sz="1100" dirty="0"/>
          </a:p>
          <a:p>
            <a:pPr marL="127000" indent="-1270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Async enrichment: ratings, shelves, pages, authors</a:t>
            </a:r>
            <a:endParaRPr lang="en-US" sz="1100" dirty="0"/>
          </a:p>
          <a:p>
            <a:pPr marL="127000" indent="-1270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Retry on rate limit + checkpoints</a:t>
            </a:r>
            <a:endParaRPr lang="en-US" sz="1100" dirty="0"/>
          </a:p>
        </p:txBody>
      </p:sp>
      <p:pic>
        <p:nvPicPr>
          <p:cNvPr id="12" name="Image 1" descr="preencoded.png">    </p:cNvPr>
          <p:cNvPicPr>
            <a:picLocks noChangeAspect="1"/>
          </p:cNvPicPr>
          <p:nvPr/>
        </p:nvPicPr>
        <p:blipFill>
          <a:blip r:embed="rId3"/>
          <a:stretch>
            <a:fillRect/>
          </a:stretch>
        </p:blipFill>
        <p:spPr>
          <a:xfrm>
            <a:off x="3044952" y="2802636"/>
            <a:ext cx="201168" cy="201168"/>
          </a:xfrm>
          <a:prstGeom prst="rect">
            <a:avLst/>
          </a:prstGeom>
        </p:spPr>
      </p:pic>
      <p:sp>
        <p:nvSpPr>
          <p:cNvPr id="13" name="Shape 9"/>
          <p:cNvSpPr/>
          <p:nvPr/>
        </p:nvSpPr>
        <p:spPr>
          <a:xfrm>
            <a:off x="3314700" y="1371600"/>
            <a:ext cx="2514600" cy="3063240"/>
          </a:xfrm>
          <a:prstGeom prst="roundRect">
            <a:avLst>
              <a:gd name="adj" fmla="val 3636"/>
            </a:avLst>
          </a:prstGeom>
          <a:solidFill>
            <a:srgbClr val="1A2550">
              <a:alpha val="75000"/>
            </a:srgbClr>
          </a:solidFill>
          <a:ln w="12700">
            <a:solidFill>
              <a:srgbClr val="00D4FF"/>
            </a:solidFill>
            <a:prstDash val="solid"/>
          </a:ln>
        </p:spPr>
      </p:sp>
      <p:sp>
        <p:nvSpPr>
          <p:cNvPr id="14" name="Shape 10"/>
          <p:cNvSpPr/>
          <p:nvPr/>
        </p:nvSpPr>
        <p:spPr>
          <a:xfrm>
            <a:off x="3515868" y="1572768"/>
            <a:ext cx="502920" cy="502920"/>
          </a:xfrm>
          <a:prstGeom prst="ellipse">
            <a:avLst/>
          </a:prstGeom>
          <a:solidFill>
            <a:srgbClr val="0E1A45"/>
          </a:solidFill>
          <a:ln w="15875">
            <a:solidFill>
              <a:srgbClr val="00D4FF"/>
            </a:solidFill>
            <a:prstDash val="solid"/>
          </a:ln>
        </p:spPr>
      </p:sp>
      <p:pic>
        <p:nvPicPr>
          <p:cNvPr id="15" name="Image 2" descr="preencoded.png">    </p:cNvPr>
          <p:cNvPicPr>
            <a:picLocks noChangeAspect="1"/>
          </p:cNvPicPr>
          <p:nvPr/>
        </p:nvPicPr>
        <p:blipFill>
          <a:blip r:embed="rId4"/>
          <a:stretch>
            <a:fillRect/>
          </a:stretch>
        </p:blipFill>
        <p:spPr>
          <a:xfrm>
            <a:off x="3641598" y="1698498"/>
            <a:ext cx="251460" cy="251460"/>
          </a:xfrm>
          <a:prstGeom prst="rect">
            <a:avLst/>
          </a:prstGeom>
        </p:spPr>
      </p:pic>
      <p:sp>
        <p:nvSpPr>
          <p:cNvPr id="16" name="Text 11"/>
          <p:cNvSpPr txBox="1"/>
          <p:nvPr/>
        </p:nvSpPr>
        <p:spPr>
          <a:xfrm>
            <a:off x="4137660" y="1591056"/>
            <a:ext cx="1554480" cy="201168"/>
          </a:xfrm>
          <a:prstGeom prst="rect">
            <a:avLst/>
          </a:prstGeom>
          <a:noFill/>
          <a:ln/>
        </p:spPr>
        <p:txBody>
          <a:bodyPr wrap="square" lIns="0" tIns="0" rIns="0" bIns="0" rtlCol="0" anchor="ctr"/>
          <a:lstStyle/>
          <a:p>
            <a:pPr indent="0" marL="0">
              <a:buNone/>
            </a:pPr>
            <a:r>
              <a:rPr lang="en-US" sz="1000" b="1" dirty="0">
                <a:solidFill>
                  <a:srgbClr val="A9BCE0"/>
                </a:solidFill>
                <a:latin typeface="Calibri" pitchFamily="34" charset="0"/>
                <a:ea typeface="Calibri" pitchFamily="34" charset="-122"/>
                <a:cs typeface="Calibri" pitchFamily="34" charset="-120"/>
              </a:rPr>
              <a:t>02</a:t>
            </a:r>
            <a:endParaRPr lang="en-US" sz="1000" dirty="0"/>
          </a:p>
        </p:txBody>
      </p:sp>
      <p:sp>
        <p:nvSpPr>
          <p:cNvPr id="17" name="Text 12"/>
          <p:cNvSpPr txBox="1"/>
          <p:nvPr/>
        </p:nvSpPr>
        <p:spPr>
          <a:xfrm>
            <a:off x="4137660" y="1792224"/>
            <a:ext cx="1645920" cy="274320"/>
          </a:xfrm>
          <a:prstGeom prst="rect">
            <a:avLst/>
          </a:prstGeom>
          <a:noFill/>
          <a:ln/>
        </p:spPr>
        <p:txBody>
          <a:bodyPr wrap="square" lIns="0" tIns="0" rIns="0" bIns="0"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DATA WRANGLING</a:t>
            </a:r>
            <a:endParaRPr lang="en-US" sz="1300" dirty="0"/>
          </a:p>
        </p:txBody>
      </p:sp>
      <p:sp>
        <p:nvSpPr>
          <p:cNvPr id="18" name="Text 13"/>
          <p:cNvSpPr txBox="1"/>
          <p:nvPr/>
        </p:nvSpPr>
        <p:spPr>
          <a:xfrm>
            <a:off x="3515868" y="2286000"/>
            <a:ext cx="2112264"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pandas</a:t>
            </a:r>
            <a:endParaRPr lang="en-US" sz="2000" dirty="0"/>
          </a:p>
        </p:txBody>
      </p:sp>
      <p:sp>
        <p:nvSpPr>
          <p:cNvPr id="19" name="Text 14"/>
          <p:cNvSpPr txBox="1"/>
          <p:nvPr/>
        </p:nvSpPr>
        <p:spPr>
          <a:xfrm>
            <a:off x="3515868" y="2834640"/>
            <a:ext cx="2148840" cy="1463040"/>
          </a:xfrm>
          <a:prstGeom prst="rect">
            <a:avLst/>
          </a:prstGeom>
          <a:noFill/>
          <a:ln/>
        </p:spPr>
        <p:txBody>
          <a:bodyPr wrap="square" lIns="0" tIns="0" rIns="0" bIns="0" rtlCol="0" anchor="t"/>
          <a:lstStyle/>
          <a:p>
            <a:pPr marL="127000" indent="-1270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Fix formatting &amp; standardize genres</a:t>
            </a:r>
            <a:endParaRPr lang="en-US" sz="1100" dirty="0"/>
          </a:p>
          <a:p>
            <a:pPr marL="127000" indent="-1270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Remove incorrect values &amp; duplicates</a:t>
            </a:r>
            <a:endParaRPr lang="en-US" sz="1100" dirty="0"/>
          </a:p>
          <a:p>
            <a:pPr marL="127000" indent="-1270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Handle missing values, add features</a:t>
            </a:r>
            <a:endParaRPr lang="en-US" sz="1100" dirty="0"/>
          </a:p>
        </p:txBody>
      </p:sp>
      <p:pic>
        <p:nvPicPr>
          <p:cNvPr id="20" name="Image 3" descr="preencoded.png">    </p:cNvPr>
          <p:cNvPicPr>
            <a:picLocks noChangeAspect="1"/>
          </p:cNvPicPr>
          <p:nvPr/>
        </p:nvPicPr>
        <p:blipFill>
          <a:blip r:embed="rId5"/>
          <a:stretch>
            <a:fillRect/>
          </a:stretch>
        </p:blipFill>
        <p:spPr>
          <a:xfrm>
            <a:off x="5902452" y="2802636"/>
            <a:ext cx="201168" cy="201168"/>
          </a:xfrm>
          <a:prstGeom prst="rect">
            <a:avLst/>
          </a:prstGeom>
        </p:spPr>
      </p:pic>
      <p:sp>
        <p:nvSpPr>
          <p:cNvPr id="21" name="Shape 15"/>
          <p:cNvSpPr/>
          <p:nvPr/>
        </p:nvSpPr>
        <p:spPr>
          <a:xfrm>
            <a:off x="6172200" y="1371600"/>
            <a:ext cx="2514600" cy="3063240"/>
          </a:xfrm>
          <a:prstGeom prst="roundRect">
            <a:avLst>
              <a:gd name="adj" fmla="val 3636"/>
            </a:avLst>
          </a:prstGeom>
          <a:solidFill>
            <a:srgbClr val="1A2550">
              <a:alpha val="75000"/>
            </a:srgbClr>
          </a:solidFill>
          <a:ln w="12700">
            <a:solidFill>
              <a:srgbClr val="00D4FF"/>
            </a:solidFill>
            <a:prstDash val="solid"/>
          </a:ln>
        </p:spPr>
      </p:sp>
      <p:sp>
        <p:nvSpPr>
          <p:cNvPr id="22" name="Shape 16"/>
          <p:cNvSpPr/>
          <p:nvPr/>
        </p:nvSpPr>
        <p:spPr>
          <a:xfrm>
            <a:off x="6373368" y="1572768"/>
            <a:ext cx="502920" cy="502920"/>
          </a:xfrm>
          <a:prstGeom prst="ellipse">
            <a:avLst/>
          </a:prstGeom>
          <a:solidFill>
            <a:srgbClr val="0E1A45"/>
          </a:solidFill>
          <a:ln w="15875">
            <a:solidFill>
              <a:srgbClr val="00D4FF"/>
            </a:solidFill>
            <a:prstDash val="solid"/>
          </a:ln>
        </p:spPr>
      </p:sp>
      <p:pic>
        <p:nvPicPr>
          <p:cNvPr id="23" name="Image 4" descr="preencoded.png">    </p:cNvPr>
          <p:cNvPicPr>
            <a:picLocks noChangeAspect="1"/>
          </p:cNvPicPr>
          <p:nvPr/>
        </p:nvPicPr>
        <p:blipFill>
          <a:blip r:embed="rId6"/>
          <a:stretch>
            <a:fillRect/>
          </a:stretch>
        </p:blipFill>
        <p:spPr>
          <a:xfrm>
            <a:off x="6499098" y="1698498"/>
            <a:ext cx="251460" cy="251460"/>
          </a:xfrm>
          <a:prstGeom prst="rect">
            <a:avLst/>
          </a:prstGeom>
        </p:spPr>
      </p:pic>
      <p:sp>
        <p:nvSpPr>
          <p:cNvPr id="24" name="Text 17"/>
          <p:cNvSpPr txBox="1"/>
          <p:nvPr/>
        </p:nvSpPr>
        <p:spPr>
          <a:xfrm>
            <a:off x="6995160" y="1591056"/>
            <a:ext cx="1554480" cy="201168"/>
          </a:xfrm>
          <a:prstGeom prst="rect">
            <a:avLst/>
          </a:prstGeom>
          <a:noFill/>
          <a:ln/>
        </p:spPr>
        <p:txBody>
          <a:bodyPr wrap="square" lIns="0" tIns="0" rIns="0" bIns="0" rtlCol="0" anchor="ctr"/>
          <a:lstStyle/>
          <a:p>
            <a:pPr indent="0" marL="0">
              <a:buNone/>
            </a:pPr>
            <a:r>
              <a:rPr lang="en-US" sz="1000" b="1" dirty="0">
                <a:solidFill>
                  <a:srgbClr val="A9BCE0"/>
                </a:solidFill>
                <a:latin typeface="Calibri" pitchFamily="34" charset="0"/>
                <a:ea typeface="Calibri" pitchFamily="34" charset="-122"/>
                <a:cs typeface="Calibri" pitchFamily="34" charset="-120"/>
              </a:rPr>
              <a:t>03</a:t>
            </a:r>
            <a:endParaRPr lang="en-US" sz="1000" dirty="0"/>
          </a:p>
        </p:txBody>
      </p:sp>
      <p:sp>
        <p:nvSpPr>
          <p:cNvPr id="25" name="Text 18"/>
          <p:cNvSpPr txBox="1"/>
          <p:nvPr/>
        </p:nvSpPr>
        <p:spPr>
          <a:xfrm>
            <a:off x="6995160" y="1792224"/>
            <a:ext cx="1645920" cy="274320"/>
          </a:xfrm>
          <a:prstGeom prst="rect">
            <a:avLst/>
          </a:prstGeom>
          <a:noFill/>
          <a:ln/>
        </p:spPr>
        <p:txBody>
          <a:bodyPr wrap="square" lIns="0" tIns="0" rIns="0" bIns="0"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VISUALIZATION</a:t>
            </a:r>
            <a:endParaRPr lang="en-US" sz="1300" dirty="0"/>
          </a:p>
        </p:txBody>
      </p:sp>
      <p:sp>
        <p:nvSpPr>
          <p:cNvPr id="26" name="Text 19"/>
          <p:cNvSpPr txBox="1"/>
          <p:nvPr/>
        </p:nvSpPr>
        <p:spPr>
          <a:xfrm>
            <a:off x="6373368" y="2286000"/>
            <a:ext cx="2112264"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matplotlib</a:t>
            </a:r>
            <a:endParaRPr lang="en-US" sz="2000" dirty="0"/>
          </a:p>
        </p:txBody>
      </p:sp>
      <p:sp>
        <p:nvSpPr>
          <p:cNvPr id="27" name="Text 20"/>
          <p:cNvSpPr txBox="1"/>
          <p:nvPr/>
        </p:nvSpPr>
        <p:spPr>
          <a:xfrm>
            <a:off x="6373368" y="2834640"/>
            <a:ext cx="2148840" cy="1463040"/>
          </a:xfrm>
          <a:prstGeom prst="rect">
            <a:avLst/>
          </a:prstGeom>
          <a:noFill/>
          <a:ln/>
        </p:spPr>
        <p:txBody>
          <a:bodyPr wrap="square" lIns="0" tIns="0" rIns="0" bIns="0" rtlCol="0" anchor="t"/>
          <a:lstStyle/>
          <a:p>
            <a:pPr marL="127000" indent="-1270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10 charts in the deck's theme</a:t>
            </a:r>
            <a:endParaRPr lang="en-US" sz="1100" dirty="0"/>
          </a:p>
          <a:p>
            <a:pPr marL="127000" indent="-1270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Genre, time, rating &amp; reader trends</a:t>
            </a:r>
            <a:endParaRPr lang="en-US" sz="1100" dirty="0"/>
          </a:p>
          <a:p>
            <a:pPr marL="127000" indent="-1270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Insights from cleaned data</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56032"/>
          </a:xfrm>
          <a:prstGeom prst="rect">
            <a:avLst/>
          </a:prstGeom>
          <a:noFill/>
          <a:ln/>
        </p:spPr>
        <p:txBody>
          <a:bodyPr wrap="square" lIns="0" tIns="0" rIns="0" bIns="0" rtlCol="0" anchor="ctr"/>
          <a:lstStyle/>
          <a:p>
            <a:pPr indent="0" marL="0">
              <a:buNone/>
            </a:pPr>
            <a:r>
              <a:rPr lang="en-US" sz="1000" b="1" spc="400" kern="0" dirty="0">
                <a:solidFill>
                  <a:srgbClr val="00D4FF"/>
                </a:solidFill>
                <a:latin typeface="Calibri" pitchFamily="34" charset="0"/>
                <a:ea typeface="Calibri" pitchFamily="34" charset="-122"/>
                <a:cs typeface="Calibri" pitchFamily="34" charset="-120"/>
              </a:rPr>
              <a:t>DATA COLLECTION  •  STEP 1</a:t>
            </a:r>
            <a:endParaRPr lang="en-US" sz="1000" dirty="0"/>
          </a:p>
        </p:txBody>
      </p:sp>
      <p:sp>
        <p:nvSpPr>
          <p:cNvPr id="3" name="Text 1"/>
          <p:cNvSpPr txBox="1"/>
          <p:nvPr/>
        </p:nvSpPr>
        <p:spPr>
          <a:xfrm>
            <a:off x="457200" y="530352"/>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Fetching Books from the Open Library API</a:t>
            </a:r>
            <a:endParaRPr lang="en-US" sz="26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A9BCE0"/>
                </a:solidFill>
                <a:latin typeface="Calibri" pitchFamily="34" charset="0"/>
                <a:ea typeface="Calibri" pitchFamily="34" charset="-122"/>
                <a:cs typeface="Calibri" pitchFamily="34" charset="-120"/>
              </a:rPr>
              <a:t>03 / 12</a:t>
            </a:r>
            <a:endParaRPr lang="en-US" sz="900" dirty="0"/>
          </a:p>
        </p:txBody>
      </p:sp>
      <p:sp>
        <p:nvSpPr>
          <p:cNvPr id="5" name="Shape 3"/>
          <p:cNvSpPr/>
          <p:nvPr/>
        </p:nvSpPr>
        <p:spPr>
          <a:xfrm>
            <a:off x="457200" y="1234440"/>
            <a:ext cx="5257800" cy="3383280"/>
          </a:xfrm>
          <a:prstGeom prst="roundRect">
            <a:avLst>
              <a:gd name="adj" fmla="val 2162"/>
            </a:avLst>
          </a:prstGeom>
          <a:solidFill>
            <a:srgbClr val="070C22">
              <a:alpha val="92000"/>
            </a:srgbClr>
          </a:solidFill>
          <a:ln w="12700">
            <a:solidFill>
              <a:srgbClr val="2E4A8A"/>
            </a:solidFill>
            <a:prstDash val="solid"/>
          </a:ln>
        </p:spPr>
      </p:sp>
      <p:sp>
        <p:nvSpPr>
          <p:cNvPr id="6" name="Shape 4"/>
          <p:cNvSpPr/>
          <p:nvPr/>
        </p:nvSpPr>
        <p:spPr>
          <a:xfrm>
            <a:off x="594360" y="1344168"/>
            <a:ext cx="82296" cy="82296"/>
          </a:xfrm>
          <a:prstGeom prst="ellipse">
            <a:avLst/>
          </a:prstGeom>
          <a:solidFill>
            <a:srgbClr val="FF5F57"/>
          </a:solidFill>
          <a:ln w="12700">
            <a:solidFill>
              <a:srgbClr val="FF5F57"/>
            </a:solidFill>
            <a:prstDash val="solid"/>
          </a:ln>
        </p:spPr>
      </p:sp>
      <p:sp>
        <p:nvSpPr>
          <p:cNvPr id="7" name="Shape 5"/>
          <p:cNvSpPr/>
          <p:nvPr/>
        </p:nvSpPr>
        <p:spPr>
          <a:xfrm>
            <a:off x="731520" y="1344168"/>
            <a:ext cx="82296" cy="82296"/>
          </a:xfrm>
          <a:prstGeom prst="ellipse">
            <a:avLst/>
          </a:prstGeom>
          <a:solidFill>
            <a:srgbClr val="FEBC2E"/>
          </a:solidFill>
          <a:ln w="12700">
            <a:solidFill>
              <a:srgbClr val="FEBC2E"/>
            </a:solidFill>
            <a:prstDash val="solid"/>
          </a:ln>
        </p:spPr>
      </p:sp>
      <p:sp>
        <p:nvSpPr>
          <p:cNvPr id="8" name="Shape 6"/>
          <p:cNvSpPr/>
          <p:nvPr/>
        </p:nvSpPr>
        <p:spPr>
          <a:xfrm>
            <a:off x="868680" y="1344168"/>
            <a:ext cx="82296" cy="82296"/>
          </a:xfrm>
          <a:prstGeom prst="ellipse">
            <a:avLst/>
          </a:prstGeom>
          <a:solidFill>
            <a:srgbClr val="28C840"/>
          </a:solidFill>
          <a:ln w="12700">
            <a:solidFill>
              <a:srgbClr val="28C840"/>
            </a:solidFill>
            <a:prstDash val="solid"/>
          </a:ln>
        </p:spPr>
      </p:sp>
      <p:sp>
        <p:nvSpPr>
          <p:cNvPr id="9" name="Text 7"/>
          <p:cNvSpPr txBox="1"/>
          <p:nvPr/>
        </p:nvSpPr>
        <p:spPr>
          <a:xfrm>
            <a:off x="1051560" y="1289304"/>
            <a:ext cx="4526280" cy="182880"/>
          </a:xfrm>
          <a:prstGeom prst="rect">
            <a:avLst/>
          </a:prstGeom>
          <a:noFill/>
          <a:ln/>
        </p:spPr>
        <p:txBody>
          <a:bodyPr wrap="square" lIns="0" tIns="0" rIns="0" bIns="0" rtlCol="0" anchor="ctr"/>
          <a:lstStyle/>
          <a:p>
            <a:pPr indent="0" marL="0">
              <a:buNone/>
            </a:pPr>
            <a:r>
              <a:rPr lang="en-US" sz="800" dirty="0">
                <a:solidFill>
                  <a:srgbClr val="A9BCE0"/>
                </a:solidFill>
                <a:latin typeface="Courier New" pitchFamily="34" charset="0"/>
                <a:ea typeface="Courier New" pitchFamily="34" charset="-122"/>
                <a:cs typeface="Courier New" pitchFamily="34" charset="-120"/>
              </a:rPr>
              <a:t>api_call.py</a:t>
            </a:r>
            <a:endParaRPr lang="en-US" sz="800" dirty="0"/>
          </a:p>
        </p:txBody>
      </p:sp>
      <p:sp>
        <p:nvSpPr>
          <p:cNvPr id="10" name="Text 8"/>
          <p:cNvSpPr txBox="1"/>
          <p:nvPr/>
        </p:nvSpPr>
        <p:spPr>
          <a:xfrm>
            <a:off x="621792" y="1563624"/>
            <a:ext cx="4983480" cy="2962656"/>
          </a:xfrm>
          <a:prstGeom prst="rect">
            <a:avLst/>
          </a:prstGeom>
          <a:noFill/>
          <a:ln/>
        </p:spPr>
        <p:txBody>
          <a:bodyPr wrap="square" lIns="0" tIns="0" rIns="0" bIns="0" rtlCol="0" anchor="t"/>
          <a:lstStyle/>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url</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"https://openlibrary.org/subjects/thriller.json"</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params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"limit"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8C9C"/>
                </a:solidFill>
                <a:latin typeface="Courier New" pitchFamily="34" charset="0"/>
                <a:ea typeface="Courier New" pitchFamily="34" charset="-122"/>
                <a:cs typeface="Courier New" pitchFamily="34" charset="-120"/>
              </a:rPr>
              <a:t>40}</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endParaRPr lang="en-US" sz="900" dirty="0"/>
          </a:p>
          <a:p>
            <a:pPr indent="0" marL="0">
              <a:lnSpc>
                <a:spcPct val="100000"/>
              </a:lnSpc>
              <a:buNone/>
            </a:pPr>
            <a:r>
              <a:rPr lang="en-US" sz="900" dirty="0">
                <a:solidFill>
                  <a:srgbClr val="C792EA"/>
                </a:solidFill>
                <a:latin typeface="Courier New" pitchFamily="34" charset="0"/>
                <a:ea typeface="Courier New" pitchFamily="34" charset="-122"/>
                <a:cs typeface="Courier New" pitchFamily="34" charset="-120"/>
              </a:rPr>
              <a:t>for</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attempt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C792EA"/>
                </a:solidFill>
                <a:latin typeface="Courier New" pitchFamily="34" charset="0"/>
                <a:ea typeface="Courier New" pitchFamily="34" charset="-122"/>
                <a:cs typeface="Courier New" pitchFamily="34" charset="-120"/>
              </a:rPr>
              <a:t>in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range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(1,</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8C9C"/>
                </a:solidFill>
                <a:latin typeface="Courier New" pitchFamily="34" charset="0"/>
                <a:ea typeface="Courier New" pitchFamily="34" charset="-122"/>
                <a:cs typeface="Courier New" pitchFamily="34" charset="-120"/>
              </a:rPr>
              <a:t>6):</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response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requests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get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url</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params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params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headers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headers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timeout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=10)</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C792EA"/>
                </a:solidFill>
                <a:latin typeface="Courier New" pitchFamily="34" charset="0"/>
                <a:ea typeface="Courier New" pitchFamily="34" charset="-122"/>
                <a:cs typeface="Courier New" pitchFamily="34" charset="-120"/>
              </a:rPr>
              <a:t>if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response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status_code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8C9C"/>
                </a:solidFill>
                <a:latin typeface="Courier New" pitchFamily="34" charset="0"/>
                <a:ea typeface="Courier New" pitchFamily="34" charset="-122"/>
                <a:cs typeface="Courier New" pitchFamily="34" charset="-120"/>
              </a:rPr>
              <a:t>429:</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i="1" dirty="0">
                <a:solidFill>
                  <a:srgbClr val="6A8BAF"/>
                </a:solidFill>
                <a:latin typeface="Courier New" pitchFamily="34" charset="0"/>
                <a:ea typeface="Courier New" pitchFamily="34" charset="-122"/>
                <a:cs typeface="Courier New" pitchFamily="34" charset="-120"/>
              </a:rPr>
              <a:t># rate limited</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time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sleep</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(5</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attempt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i="1" dirty="0">
                <a:solidFill>
                  <a:srgbClr val="6A8BAF"/>
                </a:solidFill>
                <a:latin typeface="Courier New" pitchFamily="34" charset="0"/>
                <a:ea typeface="Courier New" pitchFamily="34" charset="-122"/>
                <a:cs typeface="Courier New" pitchFamily="34" charset="-120"/>
              </a:rPr>
              <a:t># wait, then retry</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C792EA"/>
                </a:solidFill>
                <a:latin typeface="Courier New" pitchFamily="34" charset="0"/>
                <a:ea typeface="Courier New" pitchFamily="34" charset="-122"/>
                <a:cs typeface="Courier New" pitchFamily="34" charset="-120"/>
              </a:rPr>
              <a:t>continue</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C792EA"/>
                </a:solidFill>
                <a:latin typeface="Courier New" pitchFamily="34" charset="0"/>
                <a:ea typeface="Courier New" pitchFamily="34" charset="-122"/>
                <a:cs typeface="Courier New" pitchFamily="34" charset="-120"/>
              </a:rPr>
              <a:t>break</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books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C792EA"/>
                </a:solidFill>
                <a:latin typeface="Courier New" pitchFamily="34" charset="0"/>
                <a:ea typeface="Courier New" pitchFamily="34" charset="-122"/>
                <a:cs typeface="Courier New" pitchFamily="34" charset="-120"/>
              </a:rPr>
              <a:t>for</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item</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C792EA"/>
                </a:solidFill>
                <a:latin typeface="Courier New" pitchFamily="34" charset="0"/>
                <a:ea typeface="Courier New" pitchFamily="34" charset="-122"/>
                <a:cs typeface="Courier New" pitchFamily="34" charset="-120"/>
              </a:rPr>
              <a:t>in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response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json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"works"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books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append</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"Title"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item</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get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"title"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"Unknown"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"Author"</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join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"name"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C792EA"/>
                </a:solidFill>
                <a:latin typeface="Courier New" pitchFamily="34" charset="0"/>
                <a:ea typeface="Courier New" pitchFamily="34" charset="-122"/>
                <a:cs typeface="Courier New" pitchFamily="34" charset="-120"/>
              </a:rPr>
              <a:t>for</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C792EA"/>
                </a:solidFill>
                <a:latin typeface="Courier New" pitchFamily="34" charset="0"/>
                <a:ea typeface="Courier New" pitchFamily="34" charset="-122"/>
                <a:cs typeface="Courier New" pitchFamily="34" charset="-120"/>
              </a:rPr>
              <a:t>in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item</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"authors"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"Publish_Year"</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item</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get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"first_publish_year"</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"Edition_Count"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item</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get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"edition_count"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8C9C"/>
                </a:solidFill>
                <a:latin typeface="Courier New" pitchFamily="34" charset="0"/>
                <a:ea typeface="Courier New" pitchFamily="34" charset="-122"/>
                <a:cs typeface="Courier New" pitchFamily="34" charset="-120"/>
              </a:rPr>
              <a:t>0),</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"Open_Library_Key"</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item</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get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"key"</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pd</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DataFrame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books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to_csv</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"my_openlibrary_books_data.csv"</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p:txBody>
      </p:sp>
      <p:sp>
        <p:nvSpPr>
          <p:cNvPr id="11" name="Shape 9"/>
          <p:cNvSpPr/>
          <p:nvPr/>
        </p:nvSpPr>
        <p:spPr>
          <a:xfrm>
            <a:off x="5989320" y="1280160"/>
            <a:ext cx="438912" cy="438912"/>
          </a:xfrm>
          <a:prstGeom prst="ellipse">
            <a:avLst/>
          </a:prstGeom>
          <a:solidFill>
            <a:srgbClr val="0E1A45"/>
          </a:solidFill>
          <a:ln w="15875">
            <a:solidFill>
              <a:srgbClr val="00D4FF"/>
            </a:solidFill>
            <a:prstDash val="solid"/>
          </a:ln>
        </p:spPr>
      </p:sp>
      <p:pic>
        <p:nvPicPr>
          <p:cNvPr id="12" name="Image 0" descr="preencoded.png">    </p:cNvPr>
          <p:cNvPicPr>
            <a:picLocks noChangeAspect="1"/>
          </p:cNvPicPr>
          <p:nvPr/>
        </p:nvPicPr>
        <p:blipFill>
          <a:blip r:embed="rId2"/>
          <a:stretch>
            <a:fillRect/>
          </a:stretch>
        </p:blipFill>
        <p:spPr>
          <a:xfrm>
            <a:off x="6099048" y="1389888"/>
            <a:ext cx="219456" cy="219456"/>
          </a:xfrm>
          <a:prstGeom prst="rect">
            <a:avLst/>
          </a:prstGeom>
        </p:spPr>
      </p:pic>
      <p:sp>
        <p:nvSpPr>
          <p:cNvPr id="13" name="Text 10"/>
          <p:cNvSpPr txBox="1"/>
          <p:nvPr/>
        </p:nvSpPr>
        <p:spPr>
          <a:xfrm>
            <a:off x="6565392" y="1261872"/>
            <a:ext cx="2194560" cy="23774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Send a request</a:t>
            </a:r>
            <a:endParaRPr lang="en-US" sz="1250" dirty="0"/>
          </a:p>
        </p:txBody>
      </p:sp>
      <p:sp>
        <p:nvSpPr>
          <p:cNvPr id="14" name="Text 11"/>
          <p:cNvSpPr txBox="1"/>
          <p:nvPr/>
        </p:nvSpPr>
        <p:spPr>
          <a:xfrm>
            <a:off x="6565392" y="1508760"/>
            <a:ext cx="2194560" cy="411480"/>
          </a:xfrm>
          <a:prstGeom prst="rect">
            <a:avLst/>
          </a:prstGeom>
          <a:noFill/>
          <a:ln/>
        </p:spPr>
        <p:txBody>
          <a:bodyPr wrap="square" lIns="0" tIns="0" rIns="0" bIns="0" rtlCol="0" anchor="t"/>
          <a:lstStyle/>
          <a:p>
            <a:pPr indent="0" marL="0">
              <a:buNone/>
            </a:pPr>
            <a:r>
              <a:rPr lang="en-US" sz="1000" dirty="0">
                <a:solidFill>
                  <a:srgbClr val="A9BCE0"/>
                </a:solidFill>
                <a:latin typeface="Calibri" pitchFamily="34" charset="0"/>
                <a:ea typeface="Calibri" pitchFamily="34" charset="-122"/>
                <a:cs typeface="Calibri" pitchFamily="34" charset="-120"/>
              </a:rPr>
              <a:t>GET /subjects/{genre}.json, repeated for 8 genres</a:t>
            </a:r>
            <a:endParaRPr lang="en-US" sz="1000" dirty="0"/>
          </a:p>
        </p:txBody>
      </p:sp>
      <p:sp>
        <p:nvSpPr>
          <p:cNvPr id="15" name="Shape 12"/>
          <p:cNvSpPr/>
          <p:nvPr/>
        </p:nvSpPr>
        <p:spPr>
          <a:xfrm>
            <a:off x="5989320" y="2121408"/>
            <a:ext cx="438912" cy="438912"/>
          </a:xfrm>
          <a:prstGeom prst="ellipse">
            <a:avLst/>
          </a:prstGeom>
          <a:solidFill>
            <a:srgbClr val="0E1A45"/>
          </a:solidFill>
          <a:ln w="15875">
            <a:solidFill>
              <a:srgbClr val="00D4FF"/>
            </a:solidFill>
            <a:prstDash val="solid"/>
          </a:ln>
        </p:spPr>
      </p:sp>
      <p:pic>
        <p:nvPicPr>
          <p:cNvPr id="16" name="Image 1" descr="preencoded.png">    </p:cNvPr>
          <p:cNvPicPr>
            <a:picLocks noChangeAspect="1"/>
          </p:cNvPicPr>
          <p:nvPr/>
        </p:nvPicPr>
        <p:blipFill>
          <a:blip r:embed="rId3"/>
          <a:stretch>
            <a:fillRect/>
          </a:stretch>
        </p:blipFill>
        <p:spPr>
          <a:xfrm>
            <a:off x="6099048" y="2231136"/>
            <a:ext cx="219456" cy="219456"/>
          </a:xfrm>
          <a:prstGeom prst="rect">
            <a:avLst/>
          </a:prstGeom>
        </p:spPr>
      </p:pic>
      <p:sp>
        <p:nvSpPr>
          <p:cNvPr id="17" name="Text 13"/>
          <p:cNvSpPr txBox="1"/>
          <p:nvPr/>
        </p:nvSpPr>
        <p:spPr>
          <a:xfrm>
            <a:off x="6565392" y="2103120"/>
            <a:ext cx="2194560" cy="23774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Handle rate limits</a:t>
            </a:r>
            <a:endParaRPr lang="en-US" sz="1250" dirty="0"/>
          </a:p>
        </p:txBody>
      </p:sp>
      <p:sp>
        <p:nvSpPr>
          <p:cNvPr id="18" name="Text 14"/>
          <p:cNvSpPr txBox="1"/>
          <p:nvPr/>
        </p:nvSpPr>
        <p:spPr>
          <a:xfrm>
            <a:off x="6565392" y="2350008"/>
            <a:ext cx="2194560" cy="411480"/>
          </a:xfrm>
          <a:prstGeom prst="rect">
            <a:avLst/>
          </a:prstGeom>
          <a:noFill/>
          <a:ln/>
        </p:spPr>
        <p:txBody>
          <a:bodyPr wrap="square" lIns="0" tIns="0" rIns="0" bIns="0" rtlCol="0" anchor="t"/>
          <a:lstStyle/>
          <a:p>
            <a:pPr indent="0" marL="0">
              <a:buNone/>
            </a:pPr>
            <a:r>
              <a:rPr lang="en-US" sz="1000" dirty="0">
                <a:solidFill>
                  <a:srgbClr val="A9BCE0"/>
                </a:solidFill>
                <a:latin typeface="Calibri" pitchFamily="34" charset="0"/>
                <a:ea typeface="Calibri" pitchFamily="34" charset="-122"/>
                <a:cs typeface="Calibri" pitchFamily="34" charset="-120"/>
              </a:rPr>
              <a:t>HTTP 429 → wait 5s, 10s, 15s… and retry</a:t>
            </a:r>
            <a:endParaRPr lang="en-US" sz="1000" dirty="0"/>
          </a:p>
        </p:txBody>
      </p:sp>
      <p:sp>
        <p:nvSpPr>
          <p:cNvPr id="19" name="Shape 15"/>
          <p:cNvSpPr/>
          <p:nvPr/>
        </p:nvSpPr>
        <p:spPr>
          <a:xfrm>
            <a:off x="5989320" y="2962656"/>
            <a:ext cx="438912" cy="438912"/>
          </a:xfrm>
          <a:prstGeom prst="ellipse">
            <a:avLst/>
          </a:prstGeom>
          <a:solidFill>
            <a:srgbClr val="0E1A45"/>
          </a:solidFill>
          <a:ln w="15875">
            <a:solidFill>
              <a:srgbClr val="00D4FF"/>
            </a:solidFill>
            <a:prstDash val="solid"/>
          </a:ln>
        </p:spPr>
      </p:sp>
      <p:pic>
        <p:nvPicPr>
          <p:cNvPr id="20" name="Image 2" descr="preencoded.png">    </p:cNvPr>
          <p:cNvPicPr>
            <a:picLocks noChangeAspect="1"/>
          </p:cNvPicPr>
          <p:nvPr/>
        </p:nvPicPr>
        <p:blipFill>
          <a:blip r:embed="rId4"/>
          <a:stretch>
            <a:fillRect/>
          </a:stretch>
        </p:blipFill>
        <p:spPr>
          <a:xfrm>
            <a:off x="6099048" y="3072384"/>
            <a:ext cx="219456" cy="219456"/>
          </a:xfrm>
          <a:prstGeom prst="rect">
            <a:avLst/>
          </a:prstGeom>
        </p:spPr>
      </p:pic>
      <p:sp>
        <p:nvSpPr>
          <p:cNvPr id="21" name="Text 16"/>
          <p:cNvSpPr txBox="1"/>
          <p:nvPr/>
        </p:nvSpPr>
        <p:spPr>
          <a:xfrm>
            <a:off x="6565392" y="2944368"/>
            <a:ext cx="2194560" cy="23774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Keep what we need</a:t>
            </a:r>
            <a:endParaRPr lang="en-US" sz="1250" dirty="0"/>
          </a:p>
        </p:txBody>
      </p:sp>
      <p:sp>
        <p:nvSpPr>
          <p:cNvPr id="22" name="Text 17"/>
          <p:cNvSpPr txBox="1"/>
          <p:nvPr/>
        </p:nvSpPr>
        <p:spPr>
          <a:xfrm>
            <a:off x="6565392" y="3191256"/>
            <a:ext cx="2194560" cy="411480"/>
          </a:xfrm>
          <a:prstGeom prst="rect">
            <a:avLst/>
          </a:prstGeom>
          <a:noFill/>
          <a:ln/>
        </p:spPr>
        <p:txBody>
          <a:bodyPr wrap="square" lIns="0" tIns="0" rIns="0" bIns="0" rtlCol="0" anchor="t"/>
          <a:lstStyle/>
          <a:p>
            <a:pPr indent="0" marL="0">
              <a:buNone/>
            </a:pPr>
            <a:r>
              <a:rPr lang="en-US" sz="1000" dirty="0">
                <a:solidFill>
                  <a:srgbClr val="A9BCE0"/>
                </a:solidFill>
                <a:latin typeface="Calibri" pitchFamily="34" charset="0"/>
                <a:ea typeface="Calibri" pitchFamily="34" charset="-122"/>
                <a:cs typeface="Calibri" pitchFamily="34" charset="-120"/>
              </a:rPr>
              <a:t>Title, author, year, editions, ebook, subjects</a:t>
            </a:r>
            <a:endParaRPr lang="en-US" sz="1000" dirty="0"/>
          </a:p>
        </p:txBody>
      </p:sp>
      <p:sp>
        <p:nvSpPr>
          <p:cNvPr id="23" name="Shape 18"/>
          <p:cNvSpPr/>
          <p:nvPr/>
        </p:nvSpPr>
        <p:spPr>
          <a:xfrm>
            <a:off x="5989320" y="3803904"/>
            <a:ext cx="438912" cy="438912"/>
          </a:xfrm>
          <a:prstGeom prst="ellipse">
            <a:avLst/>
          </a:prstGeom>
          <a:solidFill>
            <a:srgbClr val="0E1A45"/>
          </a:solidFill>
          <a:ln w="15875">
            <a:solidFill>
              <a:srgbClr val="00D4FF"/>
            </a:solidFill>
            <a:prstDash val="solid"/>
          </a:ln>
        </p:spPr>
      </p:sp>
      <p:pic>
        <p:nvPicPr>
          <p:cNvPr id="24" name="Image 3" descr="preencoded.png">    </p:cNvPr>
          <p:cNvPicPr>
            <a:picLocks noChangeAspect="1"/>
          </p:cNvPicPr>
          <p:nvPr/>
        </p:nvPicPr>
        <p:blipFill>
          <a:blip r:embed="rId5"/>
          <a:stretch>
            <a:fillRect/>
          </a:stretch>
        </p:blipFill>
        <p:spPr>
          <a:xfrm>
            <a:off x="6099048" y="3913632"/>
            <a:ext cx="219456" cy="219456"/>
          </a:xfrm>
          <a:prstGeom prst="rect">
            <a:avLst/>
          </a:prstGeom>
        </p:spPr>
      </p:pic>
      <p:sp>
        <p:nvSpPr>
          <p:cNvPr id="25" name="Text 19"/>
          <p:cNvSpPr txBox="1"/>
          <p:nvPr/>
        </p:nvSpPr>
        <p:spPr>
          <a:xfrm>
            <a:off x="6565392" y="3785616"/>
            <a:ext cx="2194560" cy="23774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Store the dataset</a:t>
            </a:r>
            <a:endParaRPr lang="en-US" sz="1250" dirty="0"/>
          </a:p>
        </p:txBody>
      </p:sp>
      <p:sp>
        <p:nvSpPr>
          <p:cNvPr id="26" name="Text 20"/>
          <p:cNvSpPr txBox="1"/>
          <p:nvPr/>
        </p:nvSpPr>
        <p:spPr>
          <a:xfrm>
            <a:off x="6565392" y="4032504"/>
            <a:ext cx="2194560" cy="411480"/>
          </a:xfrm>
          <a:prstGeom prst="rect">
            <a:avLst/>
          </a:prstGeom>
          <a:noFill/>
          <a:ln/>
        </p:spPr>
        <p:txBody>
          <a:bodyPr wrap="square" lIns="0" tIns="0" rIns="0" bIns="0" rtlCol="0" anchor="t"/>
          <a:lstStyle/>
          <a:p>
            <a:pPr indent="0" marL="0">
              <a:buNone/>
            </a:pPr>
            <a:r>
              <a:rPr lang="en-US" sz="1000" dirty="0">
                <a:solidFill>
                  <a:srgbClr val="A9BCE0"/>
                </a:solidFill>
                <a:latin typeface="Calibri" pitchFamily="34" charset="0"/>
                <a:ea typeface="Calibri" pitchFamily="34" charset="-122"/>
                <a:cs typeface="Calibri" pitchFamily="34" charset="-120"/>
              </a:rPr>
              <a:t>DataFrame → CSV (UTF-8)</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56032"/>
          </a:xfrm>
          <a:prstGeom prst="rect">
            <a:avLst/>
          </a:prstGeom>
          <a:noFill/>
          <a:ln/>
        </p:spPr>
        <p:txBody>
          <a:bodyPr wrap="square" lIns="0" tIns="0" rIns="0" bIns="0" rtlCol="0" anchor="ctr"/>
          <a:lstStyle/>
          <a:p>
            <a:pPr indent="0" marL="0">
              <a:buNone/>
            </a:pPr>
            <a:r>
              <a:rPr lang="en-US" sz="1000" b="1" spc="400" kern="0" dirty="0">
                <a:solidFill>
                  <a:srgbClr val="00D4FF"/>
                </a:solidFill>
                <a:latin typeface="Calibri" pitchFamily="34" charset="0"/>
                <a:ea typeface="Calibri" pitchFamily="34" charset="-122"/>
                <a:cs typeface="Calibri" pitchFamily="34" charset="-120"/>
              </a:rPr>
              <a:t>DATA COLLECTION  •  STEP 2</a:t>
            </a:r>
            <a:endParaRPr lang="en-US" sz="1000" dirty="0"/>
          </a:p>
        </p:txBody>
      </p:sp>
      <p:sp>
        <p:nvSpPr>
          <p:cNvPr id="3" name="Text 1"/>
          <p:cNvSpPr txBox="1"/>
          <p:nvPr/>
        </p:nvSpPr>
        <p:spPr>
          <a:xfrm>
            <a:off x="457200" y="530352"/>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Enriching Every Book with Async Requests</a:t>
            </a:r>
            <a:endParaRPr lang="en-US" sz="26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A9BCE0"/>
                </a:solidFill>
                <a:latin typeface="Calibri" pitchFamily="34" charset="0"/>
                <a:ea typeface="Calibri" pitchFamily="34" charset="-122"/>
                <a:cs typeface="Calibri" pitchFamily="34" charset="-120"/>
              </a:rPr>
              <a:t>04 / 12</a:t>
            </a:r>
            <a:endParaRPr lang="en-US" sz="900" dirty="0"/>
          </a:p>
        </p:txBody>
      </p:sp>
      <p:sp>
        <p:nvSpPr>
          <p:cNvPr id="5" name="Shape 3"/>
          <p:cNvSpPr/>
          <p:nvPr/>
        </p:nvSpPr>
        <p:spPr>
          <a:xfrm>
            <a:off x="457200" y="1234440"/>
            <a:ext cx="5257800" cy="3383280"/>
          </a:xfrm>
          <a:prstGeom prst="roundRect">
            <a:avLst>
              <a:gd name="adj" fmla="val 2162"/>
            </a:avLst>
          </a:prstGeom>
          <a:solidFill>
            <a:srgbClr val="070C22">
              <a:alpha val="92000"/>
            </a:srgbClr>
          </a:solidFill>
          <a:ln w="12700">
            <a:solidFill>
              <a:srgbClr val="2E4A8A"/>
            </a:solidFill>
            <a:prstDash val="solid"/>
          </a:ln>
        </p:spPr>
      </p:sp>
      <p:sp>
        <p:nvSpPr>
          <p:cNvPr id="6" name="Shape 4"/>
          <p:cNvSpPr/>
          <p:nvPr/>
        </p:nvSpPr>
        <p:spPr>
          <a:xfrm>
            <a:off x="594360" y="1344168"/>
            <a:ext cx="82296" cy="82296"/>
          </a:xfrm>
          <a:prstGeom prst="ellipse">
            <a:avLst/>
          </a:prstGeom>
          <a:solidFill>
            <a:srgbClr val="FF5F57"/>
          </a:solidFill>
          <a:ln w="12700">
            <a:solidFill>
              <a:srgbClr val="FF5F57"/>
            </a:solidFill>
            <a:prstDash val="solid"/>
          </a:ln>
        </p:spPr>
      </p:sp>
      <p:sp>
        <p:nvSpPr>
          <p:cNvPr id="7" name="Shape 5"/>
          <p:cNvSpPr/>
          <p:nvPr/>
        </p:nvSpPr>
        <p:spPr>
          <a:xfrm>
            <a:off x="731520" y="1344168"/>
            <a:ext cx="82296" cy="82296"/>
          </a:xfrm>
          <a:prstGeom prst="ellipse">
            <a:avLst/>
          </a:prstGeom>
          <a:solidFill>
            <a:srgbClr val="FEBC2E"/>
          </a:solidFill>
          <a:ln w="12700">
            <a:solidFill>
              <a:srgbClr val="FEBC2E"/>
            </a:solidFill>
            <a:prstDash val="solid"/>
          </a:ln>
        </p:spPr>
      </p:sp>
      <p:sp>
        <p:nvSpPr>
          <p:cNvPr id="8" name="Shape 6"/>
          <p:cNvSpPr/>
          <p:nvPr/>
        </p:nvSpPr>
        <p:spPr>
          <a:xfrm>
            <a:off x="868680" y="1344168"/>
            <a:ext cx="82296" cy="82296"/>
          </a:xfrm>
          <a:prstGeom prst="ellipse">
            <a:avLst/>
          </a:prstGeom>
          <a:solidFill>
            <a:srgbClr val="28C840"/>
          </a:solidFill>
          <a:ln w="12700">
            <a:solidFill>
              <a:srgbClr val="28C840"/>
            </a:solidFill>
            <a:prstDash val="solid"/>
          </a:ln>
        </p:spPr>
      </p:sp>
      <p:sp>
        <p:nvSpPr>
          <p:cNvPr id="9" name="Text 7"/>
          <p:cNvSpPr txBox="1"/>
          <p:nvPr/>
        </p:nvSpPr>
        <p:spPr>
          <a:xfrm>
            <a:off x="1051560" y="1289304"/>
            <a:ext cx="4526280" cy="182880"/>
          </a:xfrm>
          <a:prstGeom prst="rect">
            <a:avLst/>
          </a:prstGeom>
          <a:noFill/>
          <a:ln/>
        </p:spPr>
        <p:txBody>
          <a:bodyPr wrap="square" lIns="0" tIns="0" rIns="0" bIns="0" rtlCol="0" anchor="ctr"/>
          <a:lstStyle/>
          <a:p>
            <a:pPr indent="0" marL="0">
              <a:buNone/>
            </a:pPr>
            <a:r>
              <a:rPr lang="en-US" sz="800" dirty="0">
                <a:solidFill>
                  <a:srgbClr val="A9BCE0"/>
                </a:solidFill>
                <a:latin typeface="Courier New" pitchFamily="34" charset="0"/>
                <a:ea typeface="Courier New" pitchFamily="34" charset="-122"/>
                <a:cs typeface="Courier New" pitchFamily="34" charset="-120"/>
              </a:rPr>
              <a:t>data_collection.py</a:t>
            </a:r>
            <a:endParaRPr lang="en-US" sz="800" dirty="0"/>
          </a:p>
        </p:txBody>
      </p:sp>
      <p:sp>
        <p:nvSpPr>
          <p:cNvPr id="10" name="Text 8"/>
          <p:cNvSpPr txBox="1"/>
          <p:nvPr/>
        </p:nvSpPr>
        <p:spPr>
          <a:xfrm>
            <a:off x="621792" y="1563624"/>
            <a:ext cx="4983480" cy="2962656"/>
          </a:xfrm>
          <a:prstGeom prst="rect">
            <a:avLst/>
          </a:prstGeom>
          <a:noFill/>
          <a:ln/>
        </p:spPr>
        <p:txBody>
          <a:bodyPr wrap="square" lIns="0" tIns="0" rIns="0" bIns="0" rtlCol="0" anchor="t"/>
          <a:lstStyle/>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semaphore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asyncio</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Semaphore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(25)</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i="1" dirty="0">
                <a:solidFill>
                  <a:srgbClr val="6A8BAF"/>
                </a:solidFill>
                <a:latin typeface="Courier New" pitchFamily="34" charset="0"/>
                <a:ea typeface="Courier New" pitchFamily="34" charset="-122"/>
                <a:cs typeface="Courier New" pitchFamily="34" charset="-120"/>
              </a:rPr>
              <a:t># 25 requests at once</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endParaRPr lang="en-US" sz="900" dirty="0"/>
          </a:p>
          <a:p>
            <a:pPr indent="0" marL="0">
              <a:lnSpc>
                <a:spcPct val="100000"/>
              </a:lnSpc>
              <a:buNone/>
            </a:pPr>
            <a:r>
              <a:rPr lang="en-US" sz="900" dirty="0">
                <a:solidFill>
                  <a:srgbClr val="C792EA"/>
                </a:solidFill>
                <a:latin typeface="Courier New" pitchFamily="34" charset="0"/>
                <a:ea typeface="Courier New" pitchFamily="34" charset="-122"/>
                <a:cs typeface="Courier New" pitchFamily="34" charset="-120"/>
              </a:rPr>
              <a:t>async</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C792EA"/>
                </a:solidFill>
                <a:latin typeface="Courier New" pitchFamily="34" charset="0"/>
                <a:ea typeface="Courier New" pitchFamily="34" charset="-122"/>
                <a:cs typeface="Courier New" pitchFamily="34" charset="-120"/>
              </a:rPr>
              <a:t>def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process_one_book</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session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semaphore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idx</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key</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idx</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"Open_Library_Key"</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C792EA"/>
                </a:solidFill>
                <a:latin typeface="Courier New" pitchFamily="34" charset="0"/>
                <a:ea typeface="Courier New" pitchFamily="34" charset="-122"/>
                <a:cs typeface="Courier New" pitchFamily="34" charset="-120"/>
              </a:rPr>
              <a:t>async</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C792EA"/>
                </a:solidFill>
                <a:latin typeface="Courier New" pitchFamily="34" charset="0"/>
                <a:ea typeface="Courier New" pitchFamily="34" charset="-122"/>
                <a:cs typeface="Courier New" pitchFamily="34" charset="-120"/>
              </a:rPr>
              <a:t>with</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semaphore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ratings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shelves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editions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author</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C792EA"/>
                </a:solidFill>
                <a:latin typeface="Courier New" pitchFamily="34" charset="0"/>
                <a:ea typeface="Courier New" pitchFamily="34" charset="-122"/>
                <a:cs typeface="Courier New" pitchFamily="34" charset="-120"/>
              </a:rPr>
              <a:t>await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asyncio</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gather</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fetch_json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session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f</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"{BASE}{key}/ratings.json"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fetch_json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session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f</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"{BASE}{key}/bookshelves.json"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fetch_json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session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f</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"{BASE}{key}/editions.json"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get_author_details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session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idx</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"Author"</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idx</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"Average_Rating"</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ratings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"summary"</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"average"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idx</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"Want_To_Read_Count"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shelves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"counts"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"want_to_read"</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idx</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"Author_Birth_Date"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author</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"birth_date"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C792EA"/>
                </a:solidFill>
                <a:latin typeface="Courier New" pitchFamily="34" charset="0"/>
                <a:ea typeface="Courier New" pitchFamily="34" charset="-122"/>
                <a:cs typeface="Courier New" pitchFamily="34" charset="-120"/>
              </a:rPr>
              <a:t>if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processed_count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8C9C"/>
                </a:solidFill>
                <a:latin typeface="Courier New" pitchFamily="34" charset="0"/>
                <a:ea typeface="Courier New" pitchFamily="34" charset="-122"/>
                <a:cs typeface="Courier New" pitchFamily="34" charset="-120"/>
              </a:rPr>
              <a:t>30</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8C9C"/>
                </a:solidFill>
                <a:latin typeface="Courier New" pitchFamily="34" charset="0"/>
                <a:ea typeface="Courier New" pitchFamily="34" charset="-122"/>
                <a:cs typeface="Courier New" pitchFamily="34" charset="-120"/>
              </a:rPr>
              <a:t>0:</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i="1" dirty="0">
                <a:solidFill>
                  <a:srgbClr val="6A8BAF"/>
                </a:solidFill>
                <a:latin typeface="Courier New" pitchFamily="34" charset="0"/>
                <a:ea typeface="Courier New" pitchFamily="34" charset="-122"/>
                <a:cs typeface="Courier New" pitchFamily="34" charset="-120"/>
              </a:rPr>
              <a:t># checkpoint save</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to_csv</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csv_file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index</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C792EA"/>
                </a:solidFill>
                <a:latin typeface="Courier New" pitchFamily="34" charset="0"/>
                <a:ea typeface="Courier New" pitchFamily="34" charset="-122"/>
                <a:cs typeface="Courier New" pitchFamily="34" charset="-120"/>
              </a:rPr>
              <a:t>False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p:txBody>
      </p:sp>
      <p:sp>
        <p:nvSpPr>
          <p:cNvPr id="11" name="Text 9"/>
          <p:cNvSpPr txBox="1"/>
          <p:nvPr/>
        </p:nvSpPr>
        <p:spPr>
          <a:xfrm>
            <a:off x="5989320" y="1234440"/>
            <a:ext cx="2743200" cy="228600"/>
          </a:xfrm>
          <a:prstGeom prst="rect">
            <a:avLst/>
          </a:prstGeom>
          <a:noFill/>
          <a:ln/>
        </p:spPr>
        <p:txBody>
          <a:bodyPr wrap="square" lIns="0" tIns="0" rIns="0" bIns="0" rtlCol="0" anchor="ctr"/>
          <a:lstStyle/>
          <a:p>
            <a:pPr indent="0" marL="0">
              <a:buNone/>
            </a:pPr>
            <a:r>
              <a:rPr lang="en-US" sz="1000" b="1" spc="200" kern="0" dirty="0">
                <a:solidFill>
                  <a:srgbClr val="00D4FF"/>
                </a:solidFill>
                <a:latin typeface="Calibri" pitchFamily="34" charset="0"/>
                <a:ea typeface="Calibri" pitchFamily="34" charset="-122"/>
                <a:cs typeface="Calibri" pitchFamily="34" charset="-120"/>
              </a:rPr>
              <a:t>4 API CALLS PER BOOK</a:t>
            </a:r>
            <a:endParaRPr lang="en-US" sz="1000" dirty="0"/>
          </a:p>
        </p:txBody>
      </p:sp>
      <p:sp>
        <p:nvSpPr>
          <p:cNvPr id="12" name="Shape 10"/>
          <p:cNvSpPr/>
          <p:nvPr/>
        </p:nvSpPr>
        <p:spPr>
          <a:xfrm>
            <a:off x="5989320" y="1554480"/>
            <a:ext cx="2697480" cy="548640"/>
          </a:xfrm>
          <a:prstGeom prst="roundRect">
            <a:avLst>
              <a:gd name="adj" fmla="val 16667"/>
            </a:avLst>
          </a:prstGeom>
          <a:solidFill>
            <a:srgbClr val="1A2550">
              <a:alpha val="70000"/>
            </a:srgbClr>
          </a:solidFill>
          <a:ln w="12700">
            <a:solidFill>
              <a:srgbClr val="2E4A8A"/>
            </a:solidFill>
            <a:prstDash val="solid"/>
          </a:ln>
        </p:spPr>
      </p:sp>
      <p:pic>
        <p:nvPicPr>
          <p:cNvPr id="13" name="Image 0" descr="preencoded.png">    </p:cNvPr>
          <p:cNvPicPr>
            <a:picLocks noChangeAspect="1"/>
          </p:cNvPicPr>
          <p:nvPr/>
        </p:nvPicPr>
        <p:blipFill>
          <a:blip r:embed="rId2"/>
          <a:stretch>
            <a:fillRect/>
          </a:stretch>
        </p:blipFill>
        <p:spPr>
          <a:xfrm>
            <a:off x="6126480" y="1719072"/>
            <a:ext cx="219456" cy="219456"/>
          </a:xfrm>
          <a:prstGeom prst="rect">
            <a:avLst/>
          </a:prstGeom>
        </p:spPr>
      </p:pic>
      <p:sp>
        <p:nvSpPr>
          <p:cNvPr id="14" name="Text 11"/>
          <p:cNvSpPr txBox="1"/>
          <p:nvPr/>
        </p:nvSpPr>
        <p:spPr>
          <a:xfrm>
            <a:off x="6473952" y="1618488"/>
            <a:ext cx="2148840" cy="201168"/>
          </a:xfrm>
          <a:prstGeom prst="rect">
            <a:avLst/>
          </a:prstGeom>
          <a:noFill/>
          <a:ln/>
        </p:spPr>
        <p:txBody>
          <a:bodyPr wrap="square" lIns="0" tIns="0" rIns="0" bIns="0" rtlCol="0" anchor="ctr"/>
          <a:lstStyle/>
          <a:p>
            <a:pPr indent="0" marL="0">
              <a:buNone/>
            </a:pPr>
            <a:r>
              <a:rPr lang="en-US" sz="950" b="1" dirty="0">
                <a:solidFill>
                  <a:srgbClr val="FFFFFF"/>
                </a:solidFill>
                <a:latin typeface="Courier New" pitchFamily="34" charset="0"/>
                <a:ea typeface="Courier New" pitchFamily="34" charset="-122"/>
                <a:cs typeface="Courier New" pitchFamily="34" charset="-120"/>
              </a:rPr>
              <a:t>ratings.json</a:t>
            </a:r>
            <a:endParaRPr lang="en-US" sz="950" dirty="0"/>
          </a:p>
        </p:txBody>
      </p:sp>
      <p:sp>
        <p:nvSpPr>
          <p:cNvPr id="15" name="Text 12"/>
          <p:cNvSpPr txBox="1"/>
          <p:nvPr/>
        </p:nvSpPr>
        <p:spPr>
          <a:xfrm>
            <a:off x="6473952" y="1837944"/>
            <a:ext cx="2148840" cy="201168"/>
          </a:xfrm>
          <a:prstGeom prst="rect">
            <a:avLst/>
          </a:prstGeom>
          <a:noFill/>
          <a:ln/>
        </p:spPr>
        <p:txBody>
          <a:bodyPr wrap="square" lIns="0" tIns="0" rIns="0" bIns="0" rtlCol="0" anchor="ctr"/>
          <a:lstStyle/>
          <a:p>
            <a:pPr indent="0" marL="0">
              <a:buNone/>
            </a:pPr>
            <a:r>
              <a:rPr lang="en-US" sz="950" dirty="0">
                <a:solidFill>
                  <a:srgbClr val="A9BCE0"/>
                </a:solidFill>
                <a:latin typeface="Calibri" pitchFamily="34" charset="0"/>
                <a:ea typeface="Calibri" pitchFamily="34" charset="-122"/>
                <a:cs typeface="Calibri" pitchFamily="34" charset="-120"/>
              </a:rPr>
              <a:t>Average rating, rating count</a:t>
            </a:r>
            <a:endParaRPr lang="en-US" sz="950" dirty="0"/>
          </a:p>
        </p:txBody>
      </p:sp>
      <p:sp>
        <p:nvSpPr>
          <p:cNvPr id="16" name="Shape 13"/>
          <p:cNvSpPr/>
          <p:nvPr/>
        </p:nvSpPr>
        <p:spPr>
          <a:xfrm>
            <a:off x="5989320" y="2212848"/>
            <a:ext cx="2697480" cy="548640"/>
          </a:xfrm>
          <a:prstGeom prst="roundRect">
            <a:avLst>
              <a:gd name="adj" fmla="val 16667"/>
            </a:avLst>
          </a:prstGeom>
          <a:solidFill>
            <a:srgbClr val="1A2550">
              <a:alpha val="70000"/>
            </a:srgbClr>
          </a:solidFill>
          <a:ln w="12700">
            <a:solidFill>
              <a:srgbClr val="2E4A8A"/>
            </a:solidFill>
            <a:prstDash val="solid"/>
          </a:ln>
        </p:spPr>
      </p:sp>
      <p:pic>
        <p:nvPicPr>
          <p:cNvPr id="17" name="Image 1" descr="preencoded.png">    </p:cNvPr>
          <p:cNvPicPr>
            <a:picLocks noChangeAspect="1"/>
          </p:cNvPicPr>
          <p:nvPr/>
        </p:nvPicPr>
        <p:blipFill>
          <a:blip r:embed="rId3"/>
          <a:stretch>
            <a:fillRect/>
          </a:stretch>
        </p:blipFill>
        <p:spPr>
          <a:xfrm>
            <a:off x="6126480" y="2377440"/>
            <a:ext cx="219456" cy="219456"/>
          </a:xfrm>
          <a:prstGeom prst="rect">
            <a:avLst/>
          </a:prstGeom>
        </p:spPr>
      </p:pic>
      <p:sp>
        <p:nvSpPr>
          <p:cNvPr id="18" name="Text 14"/>
          <p:cNvSpPr txBox="1"/>
          <p:nvPr/>
        </p:nvSpPr>
        <p:spPr>
          <a:xfrm>
            <a:off x="6473952" y="2276856"/>
            <a:ext cx="2148840" cy="201168"/>
          </a:xfrm>
          <a:prstGeom prst="rect">
            <a:avLst/>
          </a:prstGeom>
          <a:noFill/>
          <a:ln/>
        </p:spPr>
        <p:txBody>
          <a:bodyPr wrap="square" lIns="0" tIns="0" rIns="0" bIns="0" rtlCol="0" anchor="ctr"/>
          <a:lstStyle/>
          <a:p>
            <a:pPr indent="0" marL="0">
              <a:buNone/>
            </a:pPr>
            <a:r>
              <a:rPr lang="en-US" sz="950" b="1" dirty="0">
                <a:solidFill>
                  <a:srgbClr val="FFFFFF"/>
                </a:solidFill>
                <a:latin typeface="Courier New" pitchFamily="34" charset="0"/>
                <a:ea typeface="Courier New" pitchFamily="34" charset="-122"/>
                <a:cs typeface="Courier New" pitchFamily="34" charset="-120"/>
              </a:rPr>
              <a:t>bookshelves.json</a:t>
            </a:r>
            <a:endParaRPr lang="en-US" sz="950" dirty="0"/>
          </a:p>
        </p:txBody>
      </p:sp>
      <p:sp>
        <p:nvSpPr>
          <p:cNvPr id="19" name="Text 15"/>
          <p:cNvSpPr txBox="1"/>
          <p:nvPr/>
        </p:nvSpPr>
        <p:spPr>
          <a:xfrm>
            <a:off x="6473952" y="2496312"/>
            <a:ext cx="2148840" cy="201168"/>
          </a:xfrm>
          <a:prstGeom prst="rect">
            <a:avLst/>
          </a:prstGeom>
          <a:noFill/>
          <a:ln/>
        </p:spPr>
        <p:txBody>
          <a:bodyPr wrap="square" lIns="0" tIns="0" rIns="0" bIns="0" rtlCol="0" anchor="ctr"/>
          <a:lstStyle/>
          <a:p>
            <a:pPr indent="0" marL="0">
              <a:buNone/>
            </a:pPr>
            <a:r>
              <a:rPr lang="en-US" sz="950" dirty="0">
                <a:solidFill>
                  <a:srgbClr val="A9BCE0"/>
                </a:solidFill>
                <a:latin typeface="Calibri" pitchFamily="34" charset="0"/>
                <a:ea typeface="Calibri" pitchFamily="34" charset="-122"/>
                <a:cs typeface="Calibri" pitchFamily="34" charset="-120"/>
              </a:rPr>
              <a:t>Want to read / reading / read</a:t>
            </a:r>
            <a:endParaRPr lang="en-US" sz="950" dirty="0"/>
          </a:p>
        </p:txBody>
      </p:sp>
      <p:sp>
        <p:nvSpPr>
          <p:cNvPr id="20" name="Shape 16"/>
          <p:cNvSpPr/>
          <p:nvPr/>
        </p:nvSpPr>
        <p:spPr>
          <a:xfrm>
            <a:off x="5989320" y="2871216"/>
            <a:ext cx="2697480" cy="548640"/>
          </a:xfrm>
          <a:prstGeom prst="roundRect">
            <a:avLst>
              <a:gd name="adj" fmla="val 16667"/>
            </a:avLst>
          </a:prstGeom>
          <a:solidFill>
            <a:srgbClr val="1A2550">
              <a:alpha val="70000"/>
            </a:srgbClr>
          </a:solidFill>
          <a:ln w="12700">
            <a:solidFill>
              <a:srgbClr val="2E4A8A"/>
            </a:solidFill>
            <a:prstDash val="solid"/>
          </a:ln>
        </p:spPr>
      </p:sp>
      <p:pic>
        <p:nvPicPr>
          <p:cNvPr id="21" name="Image 2" descr="preencoded.png">    </p:cNvPr>
          <p:cNvPicPr>
            <a:picLocks noChangeAspect="1"/>
          </p:cNvPicPr>
          <p:nvPr/>
        </p:nvPicPr>
        <p:blipFill>
          <a:blip r:embed="rId4"/>
          <a:stretch>
            <a:fillRect/>
          </a:stretch>
        </p:blipFill>
        <p:spPr>
          <a:xfrm>
            <a:off x="6126480" y="3035808"/>
            <a:ext cx="219456" cy="219456"/>
          </a:xfrm>
          <a:prstGeom prst="rect">
            <a:avLst/>
          </a:prstGeom>
        </p:spPr>
      </p:pic>
      <p:sp>
        <p:nvSpPr>
          <p:cNvPr id="22" name="Text 17"/>
          <p:cNvSpPr txBox="1"/>
          <p:nvPr/>
        </p:nvSpPr>
        <p:spPr>
          <a:xfrm>
            <a:off x="6473952" y="2935224"/>
            <a:ext cx="2148840" cy="201168"/>
          </a:xfrm>
          <a:prstGeom prst="rect">
            <a:avLst/>
          </a:prstGeom>
          <a:noFill/>
          <a:ln/>
        </p:spPr>
        <p:txBody>
          <a:bodyPr wrap="square" lIns="0" tIns="0" rIns="0" bIns="0" rtlCol="0" anchor="ctr"/>
          <a:lstStyle/>
          <a:p>
            <a:pPr indent="0" marL="0">
              <a:buNone/>
            </a:pPr>
            <a:r>
              <a:rPr lang="en-US" sz="950" b="1" dirty="0">
                <a:solidFill>
                  <a:srgbClr val="FFFFFF"/>
                </a:solidFill>
                <a:latin typeface="Courier New" pitchFamily="34" charset="0"/>
                <a:ea typeface="Courier New" pitchFamily="34" charset="-122"/>
                <a:cs typeface="Courier New" pitchFamily="34" charset="-120"/>
              </a:rPr>
              <a:t>editions.json</a:t>
            </a:r>
            <a:endParaRPr lang="en-US" sz="950" dirty="0"/>
          </a:p>
        </p:txBody>
      </p:sp>
      <p:sp>
        <p:nvSpPr>
          <p:cNvPr id="23" name="Text 18"/>
          <p:cNvSpPr txBox="1"/>
          <p:nvPr/>
        </p:nvSpPr>
        <p:spPr>
          <a:xfrm>
            <a:off x="6473952" y="3154680"/>
            <a:ext cx="2148840" cy="201168"/>
          </a:xfrm>
          <a:prstGeom prst="rect">
            <a:avLst/>
          </a:prstGeom>
          <a:noFill/>
          <a:ln/>
        </p:spPr>
        <p:txBody>
          <a:bodyPr wrap="square" lIns="0" tIns="0" rIns="0" bIns="0" rtlCol="0" anchor="ctr"/>
          <a:lstStyle/>
          <a:p>
            <a:pPr indent="0" marL="0">
              <a:buNone/>
            </a:pPr>
            <a:r>
              <a:rPr lang="en-US" sz="950" dirty="0">
                <a:solidFill>
                  <a:srgbClr val="A9BCE0"/>
                </a:solidFill>
                <a:latin typeface="Calibri" pitchFamily="34" charset="0"/>
                <a:ea typeface="Calibri" pitchFamily="34" charset="-122"/>
                <a:cs typeface="Calibri" pitchFamily="34" charset="-120"/>
              </a:rPr>
              <a:t>Page count</a:t>
            </a:r>
            <a:endParaRPr lang="en-US" sz="950" dirty="0"/>
          </a:p>
        </p:txBody>
      </p:sp>
      <p:sp>
        <p:nvSpPr>
          <p:cNvPr id="24" name="Shape 19"/>
          <p:cNvSpPr/>
          <p:nvPr/>
        </p:nvSpPr>
        <p:spPr>
          <a:xfrm>
            <a:off x="5989320" y="3529584"/>
            <a:ext cx="2697480" cy="548640"/>
          </a:xfrm>
          <a:prstGeom prst="roundRect">
            <a:avLst>
              <a:gd name="adj" fmla="val 16667"/>
            </a:avLst>
          </a:prstGeom>
          <a:solidFill>
            <a:srgbClr val="1A2550">
              <a:alpha val="70000"/>
            </a:srgbClr>
          </a:solidFill>
          <a:ln w="12700">
            <a:solidFill>
              <a:srgbClr val="2E4A8A"/>
            </a:solidFill>
            <a:prstDash val="solid"/>
          </a:ln>
        </p:spPr>
      </p:sp>
      <p:pic>
        <p:nvPicPr>
          <p:cNvPr id="25" name="Image 3" descr="preencoded.png">    </p:cNvPr>
          <p:cNvPicPr>
            <a:picLocks noChangeAspect="1"/>
          </p:cNvPicPr>
          <p:nvPr/>
        </p:nvPicPr>
        <p:blipFill>
          <a:blip r:embed="rId5"/>
          <a:stretch>
            <a:fillRect/>
          </a:stretch>
        </p:blipFill>
        <p:spPr>
          <a:xfrm>
            <a:off x="6126480" y="3694176"/>
            <a:ext cx="219456" cy="219456"/>
          </a:xfrm>
          <a:prstGeom prst="rect">
            <a:avLst/>
          </a:prstGeom>
        </p:spPr>
      </p:pic>
      <p:sp>
        <p:nvSpPr>
          <p:cNvPr id="26" name="Text 20"/>
          <p:cNvSpPr txBox="1"/>
          <p:nvPr/>
        </p:nvSpPr>
        <p:spPr>
          <a:xfrm>
            <a:off x="6473952" y="3593592"/>
            <a:ext cx="2148840" cy="201168"/>
          </a:xfrm>
          <a:prstGeom prst="rect">
            <a:avLst/>
          </a:prstGeom>
          <a:noFill/>
          <a:ln/>
        </p:spPr>
        <p:txBody>
          <a:bodyPr wrap="square" lIns="0" tIns="0" rIns="0" bIns="0" rtlCol="0" anchor="ctr"/>
          <a:lstStyle/>
          <a:p>
            <a:pPr indent="0" marL="0">
              <a:buNone/>
            </a:pPr>
            <a:r>
              <a:rPr lang="en-US" sz="950" b="1" dirty="0">
                <a:solidFill>
                  <a:srgbClr val="FFFFFF"/>
                </a:solidFill>
                <a:latin typeface="Courier New" pitchFamily="34" charset="0"/>
                <a:ea typeface="Courier New" pitchFamily="34" charset="-122"/>
                <a:cs typeface="Courier New" pitchFamily="34" charset="-120"/>
              </a:rPr>
              <a:t>search/authors.json</a:t>
            </a:r>
            <a:endParaRPr lang="en-US" sz="950" dirty="0"/>
          </a:p>
        </p:txBody>
      </p:sp>
      <p:sp>
        <p:nvSpPr>
          <p:cNvPr id="27" name="Text 21"/>
          <p:cNvSpPr txBox="1"/>
          <p:nvPr/>
        </p:nvSpPr>
        <p:spPr>
          <a:xfrm>
            <a:off x="6473952" y="3813048"/>
            <a:ext cx="2148840" cy="201168"/>
          </a:xfrm>
          <a:prstGeom prst="rect">
            <a:avLst/>
          </a:prstGeom>
          <a:noFill/>
          <a:ln/>
        </p:spPr>
        <p:txBody>
          <a:bodyPr wrap="square" lIns="0" tIns="0" rIns="0" bIns="0" rtlCol="0" anchor="ctr"/>
          <a:lstStyle/>
          <a:p>
            <a:pPr indent="0" marL="0">
              <a:buNone/>
            </a:pPr>
            <a:r>
              <a:rPr lang="en-US" sz="950" dirty="0">
                <a:solidFill>
                  <a:srgbClr val="A9BCE0"/>
                </a:solidFill>
                <a:latin typeface="Calibri" pitchFamily="34" charset="0"/>
                <a:ea typeface="Calibri" pitchFamily="34" charset="-122"/>
                <a:cs typeface="Calibri" pitchFamily="34" charset="-120"/>
              </a:rPr>
              <a:t>Birth, death date, bio (cached)</a:t>
            </a:r>
            <a:endParaRPr lang="en-US" sz="950" dirty="0"/>
          </a:p>
        </p:txBody>
      </p:sp>
      <p:sp>
        <p:nvSpPr>
          <p:cNvPr id="28" name="Text 22"/>
          <p:cNvSpPr txBox="1"/>
          <p:nvPr/>
        </p:nvSpPr>
        <p:spPr>
          <a:xfrm>
            <a:off x="5989320" y="4261104"/>
            <a:ext cx="2697480" cy="365760"/>
          </a:xfrm>
          <a:prstGeom prst="rect">
            <a:avLst/>
          </a:prstGeom>
          <a:noFill/>
          <a:ln/>
        </p:spPr>
        <p:txBody>
          <a:bodyPr wrap="square" lIns="0" tIns="0" rIns="0" bIns="0" rtlCol="0" anchor="ctr"/>
          <a:lstStyle/>
          <a:p>
            <a:pPr indent="0" marL="0">
              <a:buNone/>
            </a:pPr>
            <a:r>
              <a:rPr lang="en-US" sz="950" i="1" dirty="0">
                <a:solidFill>
                  <a:srgbClr val="34E3A8"/>
                </a:solidFill>
                <a:latin typeface="Calibri" pitchFamily="34" charset="0"/>
                <a:ea typeface="Calibri" pitchFamily="34" charset="-122"/>
                <a:cs typeface="Calibri" pitchFamily="34" charset="-120"/>
              </a:rPr>
              <a:t>25 concurrent connections  •  resume from progress file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56032"/>
          </a:xfrm>
          <a:prstGeom prst="rect">
            <a:avLst/>
          </a:prstGeom>
          <a:noFill/>
          <a:ln/>
        </p:spPr>
        <p:txBody>
          <a:bodyPr wrap="square" lIns="0" tIns="0" rIns="0" bIns="0" rtlCol="0" anchor="ctr"/>
          <a:lstStyle/>
          <a:p>
            <a:pPr indent="0" marL="0">
              <a:buNone/>
            </a:pPr>
            <a:r>
              <a:rPr lang="en-US" sz="1000" b="1" spc="400" kern="0" dirty="0">
                <a:solidFill>
                  <a:srgbClr val="00D4FF"/>
                </a:solidFill>
                <a:latin typeface="Calibri" pitchFamily="34" charset="0"/>
                <a:ea typeface="Calibri" pitchFamily="34" charset="-122"/>
                <a:cs typeface="Calibri" pitchFamily="34" charset="-120"/>
              </a:rPr>
              <a:t>DATA COLLECTION  •  RESULT</a:t>
            </a:r>
            <a:endParaRPr lang="en-US" sz="1000" dirty="0"/>
          </a:p>
        </p:txBody>
      </p:sp>
      <p:sp>
        <p:nvSpPr>
          <p:cNvPr id="3" name="Text 1"/>
          <p:cNvSpPr txBox="1"/>
          <p:nvPr/>
        </p:nvSpPr>
        <p:spPr>
          <a:xfrm>
            <a:off x="457200" y="530352"/>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The Raw Dataset: Real, but Messy</a:t>
            </a:r>
            <a:endParaRPr lang="en-US" sz="26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A9BCE0"/>
                </a:solidFill>
                <a:latin typeface="Calibri" pitchFamily="34" charset="0"/>
                <a:ea typeface="Calibri" pitchFamily="34" charset="-122"/>
                <a:cs typeface="Calibri" pitchFamily="34" charset="-120"/>
              </a:rPr>
              <a:t>05 / 12</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417320"/>
                <a:gridCol w="1965960"/>
                <a:gridCol w="548640"/>
                <a:gridCol w="1143000"/>
                <a:gridCol w="640080"/>
                <a:gridCol w="594360"/>
                <a:gridCol w="1920240"/>
              </a:tblGrid>
              <a:tr h="329184">
                <a:tc>
                  <a:txBody>
                    <a:bodyPr/>
                    <a:lstStyle/>
                    <a:p>
                      <a:pPr indent="0" marL="0">
                        <a:buNone/>
                      </a:pPr>
                      <a:r>
                        <a:rPr lang="en-US" sz="1050" b="1" dirty="0">
                          <a:solidFill>
                            <a:srgbClr val="07122E"/>
                          </a:solidFill>
                          <a:latin typeface="Calibri" pitchFamily="34" charset="0"/>
                          <a:ea typeface="Calibri" pitchFamily="34" charset="-122"/>
                          <a:cs typeface="Calibri" pitchFamily="34" charset="-120"/>
                        </a:rPr>
                        <a:t>Title</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00D4FF"/>
                    </a:solidFill>
                  </a:tcPr>
                </a:tc>
                <a:tc>
                  <a:txBody>
                    <a:bodyPr/>
                    <a:lstStyle/>
                    <a:p>
                      <a:pPr indent="0" marL="0">
                        <a:buNone/>
                      </a:pPr>
                      <a:r>
                        <a:rPr lang="en-US" sz="1050" b="1" dirty="0">
                          <a:solidFill>
                            <a:srgbClr val="07122E"/>
                          </a:solidFill>
                          <a:latin typeface="Calibri" pitchFamily="34" charset="0"/>
                          <a:ea typeface="Calibri" pitchFamily="34" charset="-122"/>
                          <a:cs typeface="Calibri" pitchFamily="34" charset="-120"/>
                        </a:rPr>
                        <a:t>Author</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00D4FF"/>
                    </a:solidFill>
                  </a:tcPr>
                </a:tc>
                <a:tc>
                  <a:txBody>
                    <a:bodyPr/>
                    <a:lstStyle/>
                    <a:p>
                      <a:pPr indent="0" marL="0">
                        <a:buNone/>
                      </a:pPr>
                      <a:r>
                        <a:rPr lang="en-US" sz="1050" b="1" dirty="0">
                          <a:solidFill>
                            <a:srgbClr val="07122E"/>
                          </a:solidFill>
                          <a:latin typeface="Calibri" pitchFamily="34" charset="0"/>
                          <a:ea typeface="Calibri" pitchFamily="34" charset="-122"/>
                          <a:cs typeface="Calibri" pitchFamily="34" charset="-120"/>
                        </a:rPr>
                        <a:t>Year</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00D4FF"/>
                    </a:solidFill>
                  </a:tcPr>
                </a:tc>
                <a:tc>
                  <a:txBody>
                    <a:bodyPr/>
                    <a:lstStyle/>
                    <a:p>
                      <a:pPr indent="0" marL="0">
                        <a:buNone/>
                      </a:pPr>
                      <a:r>
                        <a:rPr lang="en-US" sz="1050" b="1" dirty="0">
                          <a:solidFill>
                            <a:srgbClr val="07122E"/>
                          </a:solidFill>
                          <a:latin typeface="Calibri" pitchFamily="34" charset="0"/>
                          <a:ea typeface="Calibri" pitchFamily="34" charset="-122"/>
                          <a:cs typeface="Calibri" pitchFamily="34" charset="-120"/>
                        </a:rPr>
                        <a:t>Genre</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00D4FF"/>
                    </a:solidFill>
                  </a:tcPr>
                </a:tc>
                <a:tc>
                  <a:txBody>
                    <a:bodyPr/>
                    <a:lstStyle/>
                    <a:p>
                      <a:pPr indent="0" marL="0">
                        <a:buNone/>
                      </a:pPr>
                      <a:r>
                        <a:rPr lang="en-US" sz="1050" b="1" dirty="0">
                          <a:solidFill>
                            <a:srgbClr val="07122E"/>
                          </a:solidFill>
                          <a:latin typeface="Calibri" pitchFamily="34" charset="0"/>
                          <a:ea typeface="Calibri" pitchFamily="34" charset="-122"/>
                          <a:cs typeface="Calibri" pitchFamily="34" charset="-120"/>
                        </a:rPr>
                        <a:t>Rating</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00D4FF"/>
                    </a:solidFill>
                  </a:tcPr>
                </a:tc>
                <a:tc>
                  <a:txBody>
                    <a:bodyPr/>
                    <a:lstStyle/>
                    <a:p>
                      <a:pPr indent="0" marL="0">
                        <a:buNone/>
                      </a:pPr>
                      <a:r>
                        <a:rPr lang="en-US" sz="1050" b="1" dirty="0">
                          <a:solidFill>
                            <a:srgbClr val="07122E"/>
                          </a:solidFill>
                          <a:latin typeface="Calibri" pitchFamily="34" charset="0"/>
                          <a:ea typeface="Calibri" pitchFamily="34" charset="-122"/>
                          <a:cs typeface="Calibri" pitchFamily="34" charset="-120"/>
                        </a:rPr>
                        <a:t>Pages</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00D4FF"/>
                    </a:solidFill>
                  </a:tcPr>
                </a:tc>
                <a:tc>
                  <a:txBody>
                    <a:bodyPr/>
                    <a:lstStyle/>
                    <a:p>
                      <a:pPr indent="0" marL="0">
                        <a:buNone/>
                      </a:pPr>
                      <a:r>
                        <a:rPr lang="en-US" sz="1050" b="1" dirty="0">
                          <a:solidFill>
                            <a:srgbClr val="07122E"/>
                          </a:solidFill>
                          <a:latin typeface="Calibri" pitchFamily="34" charset="0"/>
                          <a:ea typeface="Calibri" pitchFamily="34" charset="-122"/>
                          <a:cs typeface="Calibri" pitchFamily="34" charset="-120"/>
                        </a:rPr>
                        <a:t>Author Birth</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00D4FF"/>
                    </a:solidFill>
                  </a:tcPr>
                </a:tc>
              </a:tr>
              <a:tr h="329184">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The Invisible Man</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01A3E"/>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H. G. Wells</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01A3E"/>
                    </a:solidFill>
                  </a:tcPr>
                </a:tc>
                <a:tc>
                  <a:txBody>
                    <a:bodyPr/>
                    <a:lstStyle/>
                    <a:p>
                      <a:pPr indent="0" marL="0">
                        <a:buNone/>
                      </a:pPr>
                      <a:r>
                        <a:rPr lang="en-US" sz="1050" b="1" dirty="0">
                          <a:solidFill>
                            <a:srgbClr val="FF6B93"/>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01A3E"/>
                    </a:solidFill>
                  </a:tcPr>
                </a:tc>
                <a:tc>
                  <a:txBody>
                    <a:bodyPr/>
                    <a:lstStyle/>
                    <a:p>
                      <a:pPr indent="0" marL="0">
                        <a:buNone/>
                      </a:pPr>
                      <a:r>
                        <a:rPr lang="en-US" sz="1050" b="1" dirty="0">
                          <a:solidFill>
                            <a:srgbClr val="FF6B93"/>
                          </a:solidFill>
                          <a:latin typeface="Calibri" pitchFamily="34" charset="0"/>
                          <a:ea typeface="Calibri" pitchFamily="34" charset="-122"/>
                          <a:cs typeface="Calibri" pitchFamily="34" charset="-120"/>
                        </a:rPr>
                        <a:t>science_fiction</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01A3E"/>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01A3E"/>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01A3E"/>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01A3E"/>
                    </a:solidFill>
                  </a:tcPr>
                </a:tc>
              </a:tr>
              <a:tr h="329184">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Dumb Witness</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5204A"/>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Agatha Christie</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5204A"/>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1937</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5204A"/>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mystery</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5204A"/>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5204A"/>
                    </a:solidFill>
                  </a:tcPr>
                </a:tc>
                <a:tc>
                  <a:txBody>
                    <a:bodyPr/>
                    <a:lstStyle/>
                    <a:p>
                      <a:pPr indent="0" marL="0">
                        <a:buNone/>
                      </a:pPr>
                      <a:r>
                        <a:rPr lang="en-US" sz="1050" b="1" dirty="0">
                          <a:solidFill>
                            <a:srgbClr val="FF6B93"/>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5204A"/>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5204A"/>
                    </a:solidFill>
                  </a:tcPr>
                </a:tc>
              </a:tr>
              <a:tr h="329184">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Vampire Academy</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01A3E"/>
                    </a:solidFill>
                  </a:tcPr>
                </a:tc>
                <a:tc>
                  <a:txBody>
                    <a:bodyPr/>
                    <a:lstStyle/>
                    <a:p>
                      <a:pPr indent="0" marL="0">
                        <a:buNone/>
                      </a:pPr>
                      <a:r>
                        <a:rPr lang="en-US" sz="1050" b="1" dirty="0">
                          <a:solidFill>
                            <a:srgbClr val="FF6B93"/>
                          </a:solidFill>
                          <a:latin typeface="Calibri" pitchFamily="34" charset="0"/>
                          <a:ea typeface="Calibri" pitchFamily="34" charset="-122"/>
                          <a:cs typeface="Calibri" pitchFamily="34" charset="-120"/>
                        </a:rPr>
                        <a:t>Richelle Mead, Richelle Mead</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01A3E"/>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2007</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01A3E"/>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romance</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01A3E"/>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01A3E"/>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01A3E"/>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01A3E"/>
                    </a:solidFill>
                  </a:tcPr>
                </a:tc>
              </a:tr>
              <a:tr h="329184">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The Moonstone</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5204A"/>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Wilkie Collins</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5204A"/>
                    </a:solidFill>
                  </a:tcPr>
                </a:tc>
                <a:tc>
                  <a:txBody>
                    <a:bodyPr/>
                    <a:lstStyle/>
                    <a:p>
                      <a:pPr indent="0" marL="0">
                        <a:buNone/>
                      </a:pPr>
                      <a:r>
                        <a:rPr lang="en-US" sz="1050" b="1" dirty="0">
                          <a:solidFill>
                            <a:srgbClr val="FF6B93"/>
                          </a:solidFill>
                          <a:latin typeface="Calibri" pitchFamily="34" charset="0"/>
                          <a:ea typeface="Calibri" pitchFamily="34" charset="-122"/>
                          <a:cs typeface="Calibri" pitchFamily="34" charset="-120"/>
                        </a:rPr>
                        <a:t>1800</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5204A"/>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romance</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5204A"/>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4.09</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5204A"/>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720</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5204A"/>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5204A"/>
                    </a:solidFill>
                  </a:tcPr>
                </a:tc>
              </a:tr>
              <a:tr h="329184">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Americanah</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01A3E"/>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C. N. Adichie</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01A3E"/>
                    </a:solidFill>
                  </a:tcPr>
                </a:tc>
                <a:tc>
                  <a:txBody>
                    <a:bodyPr/>
                    <a:lstStyle/>
                    <a:p>
                      <a:pPr indent="0" marL="0">
                        <a:buNone/>
                      </a:pPr>
                      <a:r>
                        <a:rPr lang="en-US" sz="1050" b="1" dirty="0">
                          <a:solidFill>
                            <a:srgbClr val="FF6B93"/>
                          </a:solidFill>
                          <a:latin typeface="Calibri" pitchFamily="34" charset="0"/>
                          <a:ea typeface="Calibri" pitchFamily="34" charset="-122"/>
                          <a:cs typeface="Calibri" pitchFamily="34" charset="-120"/>
                        </a:rPr>
                        <a:t>1969</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01A3E"/>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romance</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01A3E"/>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3.85</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01A3E"/>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768</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01A3E"/>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1977</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01A3E"/>
                    </a:solidFill>
                  </a:tcPr>
                </a:tc>
              </a:tr>
              <a:tr h="329184">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Treasure Island</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5204A"/>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R. L. Stevenson</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5204A"/>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1880</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5204A"/>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thriller</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5204A"/>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3.78</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5204A"/>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5204A"/>
                    </a:solidFill>
                  </a:tcPr>
                </a:tc>
                <a:tc>
                  <a:txBody>
                    <a:bodyPr/>
                    <a:lstStyle/>
                    <a:p>
                      <a:pPr indent="0" marL="0">
                        <a:buNone/>
                      </a:pPr>
                      <a:r>
                        <a:rPr lang="en-US" sz="1050" b="1" dirty="0">
                          <a:solidFill>
                            <a:srgbClr val="FF6B93"/>
                          </a:solidFill>
                          <a:latin typeface="Calibri" pitchFamily="34" charset="0"/>
                          <a:ea typeface="Calibri" pitchFamily="34" charset="-122"/>
                          <a:cs typeface="Calibri" pitchFamily="34" charset="-120"/>
                        </a:rPr>
                        <a:t>13 November 1850</a:t>
                      </a:r>
                      <a:endParaRPr lang="en-US" sz="1050" dirty="0">
                        <a:latin typeface="Calibri" charset="0"/>
                        <a:ea typeface="Calibri" charset="0"/>
                        <a:cs typeface="Calibri" charset="0"/>
                      </a:endParaRPr>
                    </a:p>
                  </a:txBody>
                  <a:tcPr marL="91440" marR="91440" marT="45720" marB="45720" anchor="ctr">
                    <a:lnL w="6350" cap="flat" cmpd="sng" algn="ctr">
                      <a:solidFill>
                        <a:srgbClr val="2E4A8A"/>
                      </a:solidFill>
                      <a:prstDash val="solid"/>
                      <a:round/>
                      <a:headEnd type="none" w="med" len="med"/>
                      <a:tailEnd type="none" w="med" len="med"/>
                    </a:lnL>
                    <a:lnR w="6350" cap="flat" cmpd="sng" algn="ctr">
                      <a:solidFill>
                        <a:srgbClr val="2E4A8A"/>
                      </a:solidFill>
                      <a:prstDash val="solid"/>
                      <a:round/>
                      <a:headEnd type="none" w="med" len="med"/>
                      <a:tailEnd type="none" w="med" len="med"/>
                    </a:lnR>
                    <a:lnT w="6350" cap="flat" cmpd="sng" algn="ctr">
                      <a:solidFill>
                        <a:srgbClr val="2E4A8A"/>
                      </a:solidFill>
                      <a:prstDash val="solid"/>
                      <a:round/>
                      <a:headEnd type="none" w="med" len="med"/>
                      <a:tailEnd type="none" w="med" len="med"/>
                    </a:lnT>
                    <a:lnB w="6350" cap="flat" cmpd="sng" algn="ctr">
                      <a:solidFill>
                        <a:srgbClr val="2E4A8A"/>
                      </a:solidFill>
                      <a:prstDash val="solid"/>
                      <a:round/>
                      <a:headEnd type="none" w="med" len="med"/>
                      <a:tailEnd type="none" w="med" len="med"/>
                    </a:lnB>
                    <a:solidFill>
                      <a:srgbClr val="15204A"/>
                    </a:solidFill>
                  </a:tcPr>
                </a:tc>
              </a:tr>
            </a:tbl>
          </a:graphicData>
        </a:graphic>
      </p:graphicFrame>
      <p:sp>
        <p:nvSpPr>
          <p:cNvPr id="6" name="Shape 3"/>
          <p:cNvSpPr/>
          <p:nvPr/>
        </p:nvSpPr>
        <p:spPr>
          <a:xfrm>
            <a:off x="457200" y="3749040"/>
            <a:ext cx="1874520" cy="822960"/>
          </a:xfrm>
          <a:prstGeom prst="roundRect">
            <a:avLst>
              <a:gd name="adj" fmla="val 11111"/>
            </a:avLst>
          </a:prstGeom>
          <a:solidFill>
            <a:srgbClr val="1A2550">
              <a:alpha val="75000"/>
            </a:srgbClr>
          </a:solidFill>
          <a:ln w="12700">
            <a:solidFill>
              <a:srgbClr val="00D4FF"/>
            </a:solidFill>
            <a:prstDash val="solid"/>
          </a:ln>
        </p:spPr>
      </p:sp>
      <p:sp>
        <p:nvSpPr>
          <p:cNvPr id="7" name="Text 4"/>
          <p:cNvSpPr txBox="1"/>
          <p:nvPr/>
        </p:nvSpPr>
        <p:spPr>
          <a:xfrm>
            <a:off x="621792" y="3813048"/>
            <a:ext cx="1600200" cy="384048"/>
          </a:xfrm>
          <a:prstGeom prst="rect">
            <a:avLst/>
          </a:prstGeom>
          <a:noFill/>
          <a:ln/>
        </p:spPr>
        <p:txBody>
          <a:bodyPr wrap="square" lIns="0" tIns="0" rIns="0" bIns="0" rtlCol="0" anchor="ctr"/>
          <a:lstStyle/>
          <a:p>
            <a:pPr indent="0" marL="0">
              <a:buNone/>
            </a:pPr>
            <a:r>
              <a:rPr lang="en-US" sz="2000" b="1" dirty="0">
                <a:solidFill>
                  <a:srgbClr val="00D4FF"/>
                </a:solidFill>
                <a:latin typeface="Calibri" pitchFamily="34" charset="0"/>
                <a:ea typeface="Calibri" pitchFamily="34" charset="-122"/>
                <a:cs typeface="Calibri" pitchFamily="34" charset="-120"/>
              </a:rPr>
              <a:t>2,081 × 17</a:t>
            </a:r>
            <a:endParaRPr lang="en-US" sz="2000" dirty="0"/>
          </a:p>
        </p:txBody>
      </p:sp>
      <p:sp>
        <p:nvSpPr>
          <p:cNvPr id="8" name="Text 5"/>
          <p:cNvSpPr txBox="1"/>
          <p:nvPr/>
        </p:nvSpPr>
        <p:spPr>
          <a:xfrm>
            <a:off x="621792" y="4206240"/>
            <a:ext cx="1645920" cy="27432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rows × columns</a:t>
            </a:r>
            <a:endParaRPr lang="en-US" sz="1000" dirty="0"/>
          </a:p>
        </p:txBody>
      </p:sp>
      <p:sp>
        <p:nvSpPr>
          <p:cNvPr id="9" name="Shape 6"/>
          <p:cNvSpPr/>
          <p:nvPr/>
        </p:nvSpPr>
        <p:spPr>
          <a:xfrm>
            <a:off x="2560320" y="3749040"/>
            <a:ext cx="1874520" cy="822960"/>
          </a:xfrm>
          <a:prstGeom prst="roundRect">
            <a:avLst>
              <a:gd name="adj" fmla="val 11111"/>
            </a:avLst>
          </a:prstGeom>
          <a:solidFill>
            <a:srgbClr val="1A2550">
              <a:alpha val="75000"/>
            </a:srgbClr>
          </a:solidFill>
          <a:ln w="12700">
            <a:solidFill>
              <a:srgbClr val="00D4FF"/>
            </a:solidFill>
            <a:prstDash val="solid"/>
          </a:ln>
        </p:spPr>
      </p:sp>
      <p:sp>
        <p:nvSpPr>
          <p:cNvPr id="10" name="Text 7"/>
          <p:cNvSpPr txBox="1"/>
          <p:nvPr/>
        </p:nvSpPr>
        <p:spPr>
          <a:xfrm>
            <a:off x="2724912" y="3813048"/>
            <a:ext cx="1600200" cy="384048"/>
          </a:xfrm>
          <a:prstGeom prst="rect">
            <a:avLst/>
          </a:prstGeom>
          <a:noFill/>
          <a:ln/>
        </p:spPr>
        <p:txBody>
          <a:bodyPr wrap="square" lIns="0" tIns="0" rIns="0" bIns="0" rtlCol="0" anchor="ctr"/>
          <a:lstStyle/>
          <a:p>
            <a:pPr indent="0" marL="0">
              <a:buNone/>
            </a:pPr>
            <a:r>
              <a:rPr lang="en-US" sz="2000" b="1" dirty="0">
                <a:solidFill>
                  <a:srgbClr val="00D4FF"/>
                </a:solidFill>
                <a:latin typeface="Calibri" pitchFamily="34" charset="0"/>
                <a:ea typeface="Calibri" pitchFamily="34" charset="-122"/>
                <a:cs typeface="Calibri" pitchFamily="34" charset="-120"/>
              </a:rPr>
              <a:t>80%</a:t>
            </a:r>
            <a:endParaRPr lang="en-US" sz="2000" dirty="0"/>
          </a:p>
        </p:txBody>
      </p:sp>
      <p:sp>
        <p:nvSpPr>
          <p:cNvPr id="11" name="Text 8"/>
          <p:cNvSpPr txBox="1"/>
          <p:nvPr/>
        </p:nvSpPr>
        <p:spPr>
          <a:xfrm>
            <a:off x="2724912" y="4206240"/>
            <a:ext cx="1645920" cy="27432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rows missing enrichment fields</a:t>
            </a:r>
            <a:endParaRPr lang="en-US" sz="1000" dirty="0"/>
          </a:p>
        </p:txBody>
      </p:sp>
      <p:sp>
        <p:nvSpPr>
          <p:cNvPr id="12" name="Shape 9"/>
          <p:cNvSpPr/>
          <p:nvPr/>
        </p:nvSpPr>
        <p:spPr>
          <a:xfrm>
            <a:off x="4663440" y="3749040"/>
            <a:ext cx="1874520" cy="822960"/>
          </a:xfrm>
          <a:prstGeom prst="roundRect">
            <a:avLst>
              <a:gd name="adj" fmla="val 11111"/>
            </a:avLst>
          </a:prstGeom>
          <a:solidFill>
            <a:srgbClr val="1A2550">
              <a:alpha val="75000"/>
            </a:srgbClr>
          </a:solidFill>
          <a:ln w="12700">
            <a:solidFill>
              <a:srgbClr val="00D4FF"/>
            </a:solidFill>
            <a:prstDash val="solid"/>
          </a:ln>
        </p:spPr>
      </p:sp>
      <p:sp>
        <p:nvSpPr>
          <p:cNvPr id="13" name="Text 10"/>
          <p:cNvSpPr txBox="1"/>
          <p:nvPr/>
        </p:nvSpPr>
        <p:spPr>
          <a:xfrm>
            <a:off x="4828032" y="3813048"/>
            <a:ext cx="1600200" cy="384048"/>
          </a:xfrm>
          <a:prstGeom prst="rect">
            <a:avLst/>
          </a:prstGeom>
          <a:noFill/>
          <a:ln/>
        </p:spPr>
        <p:txBody>
          <a:bodyPr wrap="square" lIns="0" tIns="0" rIns="0" bIns="0" rtlCol="0" anchor="ctr"/>
          <a:lstStyle/>
          <a:p>
            <a:pPr indent="0" marL="0">
              <a:buNone/>
            </a:pPr>
            <a:r>
              <a:rPr lang="en-US" sz="2000" b="1" dirty="0">
                <a:solidFill>
                  <a:srgbClr val="00D4FF"/>
                </a:solidFill>
                <a:latin typeface="Calibri" pitchFamily="34" charset="0"/>
                <a:ea typeface="Calibri" pitchFamily="34" charset="-122"/>
                <a:cs typeface="Calibri" pitchFamily="34" charset="-120"/>
              </a:rPr>
              <a:t>37</a:t>
            </a:r>
            <a:endParaRPr lang="en-US" sz="2000" dirty="0"/>
          </a:p>
        </p:txBody>
      </p:sp>
      <p:sp>
        <p:nvSpPr>
          <p:cNvPr id="14" name="Text 11"/>
          <p:cNvSpPr txBox="1"/>
          <p:nvPr/>
        </p:nvSpPr>
        <p:spPr>
          <a:xfrm>
            <a:off x="4828032" y="4206240"/>
            <a:ext cx="1645920" cy="27432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different date formats</a:t>
            </a:r>
            <a:endParaRPr lang="en-US" sz="1000" dirty="0"/>
          </a:p>
        </p:txBody>
      </p:sp>
      <p:sp>
        <p:nvSpPr>
          <p:cNvPr id="15" name="Shape 12"/>
          <p:cNvSpPr/>
          <p:nvPr/>
        </p:nvSpPr>
        <p:spPr>
          <a:xfrm>
            <a:off x="6766560" y="3749040"/>
            <a:ext cx="1874520" cy="822960"/>
          </a:xfrm>
          <a:prstGeom prst="roundRect">
            <a:avLst>
              <a:gd name="adj" fmla="val 11111"/>
            </a:avLst>
          </a:prstGeom>
          <a:solidFill>
            <a:srgbClr val="1A2550">
              <a:alpha val="75000"/>
            </a:srgbClr>
          </a:solidFill>
          <a:ln w="12700">
            <a:solidFill>
              <a:srgbClr val="00D4FF"/>
            </a:solidFill>
            <a:prstDash val="solid"/>
          </a:ln>
        </p:spPr>
      </p:sp>
      <p:sp>
        <p:nvSpPr>
          <p:cNvPr id="16" name="Text 13"/>
          <p:cNvSpPr txBox="1"/>
          <p:nvPr/>
        </p:nvSpPr>
        <p:spPr>
          <a:xfrm>
            <a:off x="6931152" y="3813048"/>
            <a:ext cx="1600200" cy="384048"/>
          </a:xfrm>
          <a:prstGeom prst="rect">
            <a:avLst/>
          </a:prstGeom>
          <a:noFill/>
          <a:ln/>
        </p:spPr>
        <p:txBody>
          <a:bodyPr wrap="square" lIns="0" tIns="0" rIns="0" bIns="0" rtlCol="0" anchor="ctr"/>
          <a:lstStyle/>
          <a:p>
            <a:pPr indent="0" marL="0">
              <a:buNone/>
            </a:pPr>
            <a:r>
              <a:rPr lang="en-US" sz="2000" b="1" dirty="0">
                <a:solidFill>
                  <a:srgbClr val="00D4FF"/>
                </a:solidFill>
                <a:latin typeface="Calibri" pitchFamily="34" charset="0"/>
                <a:ea typeface="Calibri" pitchFamily="34" charset="-122"/>
                <a:cs typeface="Calibri" pitchFamily="34" charset="-120"/>
              </a:rPr>
              <a:t>6</a:t>
            </a:r>
            <a:endParaRPr lang="en-US" sz="2000" dirty="0"/>
          </a:p>
        </p:txBody>
      </p:sp>
      <p:sp>
        <p:nvSpPr>
          <p:cNvPr id="17" name="Text 14"/>
          <p:cNvSpPr txBox="1"/>
          <p:nvPr/>
        </p:nvSpPr>
        <p:spPr>
          <a:xfrm>
            <a:off x="6931152" y="4206240"/>
            <a:ext cx="1645920" cy="27432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duplicate books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56032"/>
          </a:xfrm>
          <a:prstGeom prst="rect">
            <a:avLst/>
          </a:prstGeom>
          <a:noFill/>
          <a:ln/>
        </p:spPr>
        <p:txBody>
          <a:bodyPr wrap="square" lIns="0" tIns="0" rIns="0" bIns="0" rtlCol="0" anchor="ctr"/>
          <a:lstStyle/>
          <a:p>
            <a:pPr indent="0" marL="0">
              <a:buNone/>
            </a:pPr>
            <a:r>
              <a:rPr lang="en-US" sz="1000" b="1" spc="400" kern="0" dirty="0">
                <a:solidFill>
                  <a:srgbClr val="00D4FF"/>
                </a:solidFill>
                <a:latin typeface="Calibri" pitchFamily="34" charset="0"/>
                <a:ea typeface="Calibri" pitchFamily="34" charset="-122"/>
                <a:cs typeface="Calibri" pitchFamily="34" charset="-120"/>
              </a:rPr>
              <a:t>DATA WRANGLING  •  STEP 1</a:t>
            </a:r>
            <a:endParaRPr lang="en-US" sz="1000" dirty="0"/>
          </a:p>
        </p:txBody>
      </p:sp>
      <p:sp>
        <p:nvSpPr>
          <p:cNvPr id="3" name="Text 1"/>
          <p:cNvSpPr txBox="1"/>
          <p:nvPr/>
        </p:nvSpPr>
        <p:spPr>
          <a:xfrm>
            <a:off x="457200" y="530352"/>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Fix Formatting, Standardize Genres &amp; Dates</a:t>
            </a:r>
            <a:endParaRPr lang="en-US" sz="26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A9BCE0"/>
                </a:solidFill>
                <a:latin typeface="Calibri" pitchFamily="34" charset="0"/>
                <a:ea typeface="Calibri" pitchFamily="34" charset="-122"/>
                <a:cs typeface="Calibri" pitchFamily="34" charset="-120"/>
              </a:rPr>
              <a:t>06 / 12</a:t>
            </a:r>
            <a:endParaRPr lang="en-US" sz="900" dirty="0"/>
          </a:p>
        </p:txBody>
      </p:sp>
      <p:sp>
        <p:nvSpPr>
          <p:cNvPr id="5" name="Shape 3"/>
          <p:cNvSpPr/>
          <p:nvPr/>
        </p:nvSpPr>
        <p:spPr>
          <a:xfrm>
            <a:off x="457200" y="1234440"/>
            <a:ext cx="5257800" cy="3383280"/>
          </a:xfrm>
          <a:prstGeom prst="roundRect">
            <a:avLst>
              <a:gd name="adj" fmla="val 2162"/>
            </a:avLst>
          </a:prstGeom>
          <a:solidFill>
            <a:srgbClr val="070C22">
              <a:alpha val="92000"/>
            </a:srgbClr>
          </a:solidFill>
          <a:ln w="12700">
            <a:solidFill>
              <a:srgbClr val="2E4A8A"/>
            </a:solidFill>
            <a:prstDash val="solid"/>
          </a:ln>
        </p:spPr>
      </p:sp>
      <p:sp>
        <p:nvSpPr>
          <p:cNvPr id="6" name="Shape 4"/>
          <p:cNvSpPr/>
          <p:nvPr/>
        </p:nvSpPr>
        <p:spPr>
          <a:xfrm>
            <a:off x="594360" y="1344168"/>
            <a:ext cx="82296" cy="82296"/>
          </a:xfrm>
          <a:prstGeom prst="ellipse">
            <a:avLst/>
          </a:prstGeom>
          <a:solidFill>
            <a:srgbClr val="FF5F57"/>
          </a:solidFill>
          <a:ln w="12700">
            <a:solidFill>
              <a:srgbClr val="FF5F57"/>
            </a:solidFill>
            <a:prstDash val="solid"/>
          </a:ln>
        </p:spPr>
      </p:sp>
      <p:sp>
        <p:nvSpPr>
          <p:cNvPr id="7" name="Shape 5"/>
          <p:cNvSpPr/>
          <p:nvPr/>
        </p:nvSpPr>
        <p:spPr>
          <a:xfrm>
            <a:off x="731520" y="1344168"/>
            <a:ext cx="82296" cy="82296"/>
          </a:xfrm>
          <a:prstGeom prst="ellipse">
            <a:avLst/>
          </a:prstGeom>
          <a:solidFill>
            <a:srgbClr val="FEBC2E"/>
          </a:solidFill>
          <a:ln w="12700">
            <a:solidFill>
              <a:srgbClr val="FEBC2E"/>
            </a:solidFill>
            <a:prstDash val="solid"/>
          </a:ln>
        </p:spPr>
      </p:sp>
      <p:sp>
        <p:nvSpPr>
          <p:cNvPr id="8" name="Shape 6"/>
          <p:cNvSpPr/>
          <p:nvPr/>
        </p:nvSpPr>
        <p:spPr>
          <a:xfrm>
            <a:off x="868680" y="1344168"/>
            <a:ext cx="82296" cy="82296"/>
          </a:xfrm>
          <a:prstGeom prst="ellipse">
            <a:avLst/>
          </a:prstGeom>
          <a:solidFill>
            <a:srgbClr val="28C840"/>
          </a:solidFill>
          <a:ln w="12700">
            <a:solidFill>
              <a:srgbClr val="28C840"/>
            </a:solidFill>
            <a:prstDash val="solid"/>
          </a:ln>
        </p:spPr>
      </p:sp>
      <p:sp>
        <p:nvSpPr>
          <p:cNvPr id="9" name="Text 7"/>
          <p:cNvSpPr txBox="1"/>
          <p:nvPr/>
        </p:nvSpPr>
        <p:spPr>
          <a:xfrm>
            <a:off x="1051560" y="1289304"/>
            <a:ext cx="4526280" cy="182880"/>
          </a:xfrm>
          <a:prstGeom prst="rect">
            <a:avLst/>
          </a:prstGeom>
          <a:noFill/>
          <a:ln/>
        </p:spPr>
        <p:txBody>
          <a:bodyPr wrap="square" lIns="0" tIns="0" rIns="0" bIns="0" rtlCol="0" anchor="ctr"/>
          <a:lstStyle/>
          <a:p>
            <a:pPr indent="0" marL="0">
              <a:buNone/>
            </a:pPr>
            <a:r>
              <a:rPr lang="en-US" sz="800" dirty="0">
                <a:solidFill>
                  <a:srgbClr val="A9BCE0"/>
                </a:solidFill>
                <a:latin typeface="Courier New" pitchFamily="34" charset="0"/>
                <a:ea typeface="Courier New" pitchFamily="34" charset="-122"/>
                <a:cs typeface="Courier New" pitchFamily="34" charset="-120"/>
              </a:rPr>
              <a:t>book_data_wrangling.py</a:t>
            </a:r>
            <a:endParaRPr lang="en-US" sz="800" dirty="0"/>
          </a:p>
        </p:txBody>
      </p:sp>
      <p:sp>
        <p:nvSpPr>
          <p:cNvPr id="10" name="Text 8"/>
          <p:cNvSpPr txBox="1"/>
          <p:nvPr/>
        </p:nvSpPr>
        <p:spPr>
          <a:xfrm>
            <a:off x="621792" y="1563624"/>
            <a:ext cx="4983480" cy="2962656"/>
          </a:xfrm>
          <a:prstGeom prst="rect">
            <a:avLst/>
          </a:prstGeom>
          <a:noFill/>
          <a:ln/>
        </p:spPr>
        <p:txBody>
          <a:bodyPr wrap="square" lIns="0" tIns="0" rIns="0" bIns="0" rtlCol="0" anchor="t"/>
          <a:lstStyle/>
          <a:p>
            <a:pPr indent="0" marL="0">
              <a:lnSpc>
                <a:spcPct val="100000"/>
              </a:lnSpc>
              <a:buNone/>
            </a:pPr>
            <a:r>
              <a:rPr lang="en-US" sz="900" i="1" dirty="0">
                <a:solidFill>
                  <a:srgbClr val="6A8BAF"/>
                </a:solidFill>
                <a:latin typeface="Courier New" pitchFamily="34" charset="0"/>
                <a:ea typeface="Courier New" pitchFamily="34" charset="-122"/>
                <a:cs typeface="Courier New" pitchFamily="34" charset="-120"/>
              </a:rPr>
              <a:t># 1. Clean author names</a:t>
            </a:r>
            <a:endParaRPr lang="en-US" sz="900" dirty="0"/>
          </a:p>
          <a:p>
            <a:pPr indent="0" marL="0">
              <a:lnSpc>
                <a:spcPct val="100000"/>
              </a:lnSpc>
              <a:buNone/>
            </a:pPr>
            <a:r>
              <a:rPr lang="en-US" sz="900" dirty="0">
                <a:solidFill>
                  <a:srgbClr val="C792EA"/>
                </a:solidFill>
                <a:latin typeface="Courier New" pitchFamily="34" charset="0"/>
                <a:ea typeface="Courier New" pitchFamily="34" charset="-122"/>
                <a:cs typeface="Courier New" pitchFamily="34" charset="-120"/>
              </a:rPr>
              <a:t>def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clean_authors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names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seen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set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C792EA"/>
                </a:solidFill>
                <a:latin typeface="Courier New" pitchFamily="34" charset="0"/>
                <a:ea typeface="Courier New" pitchFamily="34" charset="-122"/>
                <a:cs typeface="Courier New" pitchFamily="34" charset="-120"/>
              </a:rPr>
              <a:t>for</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C792EA"/>
                </a:solidFill>
                <a:latin typeface="Courier New" pitchFamily="34" charset="0"/>
                <a:ea typeface="Courier New" pitchFamily="34" charset="-122"/>
                <a:cs typeface="Courier New" pitchFamily="34" charset="-120"/>
              </a:rPr>
              <a:t>in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split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re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sub</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r</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"^adapted by\s+"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strip</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flags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re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I</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C792EA"/>
                </a:solidFill>
                <a:latin typeface="Courier New" pitchFamily="34" charset="0"/>
                <a:ea typeface="Courier New" pitchFamily="34" charset="-122"/>
                <a:cs typeface="Courier New" pitchFamily="34" charset="-120"/>
              </a:rPr>
              <a:t>if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C792EA"/>
                </a:solidFill>
                <a:latin typeface="Courier New" pitchFamily="34" charset="0"/>
                <a:ea typeface="Courier New" pitchFamily="34" charset="-122"/>
                <a:cs typeface="Courier New" pitchFamily="34" charset="-120"/>
              </a:rPr>
              <a:t>and</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lower</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C792EA"/>
                </a:solidFill>
                <a:latin typeface="Courier New" pitchFamily="34" charset="0"/>
                <a:ea typeface="Courier New" pitchFamily="34" charset="-122"/>
                <a:cs typeface="Courier New" pitchFamily="34" charset="-120"/>
              </a:rPr>
              <a:t>not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C792EA"/>
                </a:solidFill>
                <a:latin typeface="Courier New" pitchFamily="34" charset="0"/>
                <a:ea typeface="Courier New" pitchFamily="34" charset="-122"/>
                <a:cs typeface="Courier New" pitchFamily="34" charset="-120"/>
              </a:rPr>
              <a:t>in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seen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seen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add</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lower</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names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append</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C792EA"/>
                </a:solidFill>
                <a:latin typeface="Courier New" pitchFamily="34" charset="0"/>
                <a:ea typeface="Courier New" pitchFamily="34" charset="-122"/>
                <a:cs typeface="Courier New" pitchFamily="34" charset="-120"/>
              </a:rPr>
              <a:t>return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join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names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"Author"</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"Author"</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apply</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clean_authors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endParaRPr lang="en-US" sz="900" dirty="0"/>
          </a:p>
          <a:p>
            <a:pPr indent="0" marL="0">
              <a:lnSpc>
                <a:spcPct val="100000"/>
              </a:lnSpc>
              <a:buNone/>
            </a:pPr>
            <a:r>
              <a:rPr lang="en-US" sz="900" i="1" dirty="0">
                <a:solidFill>
                  <a:srgbClr val="6A8BAF"/>
                </a:solidFill>
                <a:latin typeface="Courier New" pitchFamily="34" charset="0"/>
                <a:ea typeface="Courier New" pitchFamily="34" charset="-122"/>
                <a:cs typeface="Courier New" pitchFamily="34" charset="-120"/>
              </a:rPr>
              <a:t># 2. Standardize genre labels</a:t>
            </a:r>
            <a:endParaRPr lang="en-US" sz="900" dirty="0"/>
          </a:p>
          <a:p>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"Genre"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"Genre_Category"</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map</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"science_fiction"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"Sci-Fi"</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"young_adult"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"Young Adult"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"historical_fiction"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"Historical Fiction"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endParaRPr lang="en-US" sz="900" dirty="0"/>
          </a:p>
          <a:p>
            <a:pPr indent="0" marL="0">
              <a:lnSpc>
                <a:spcPct val="100000"/>
              </a:lnSpc>
              <a:buNone/>
            </a:pPr>
            <a:r>
              <a:rPr lang="en-US" sz="900" i="1" dirty="0">
                <a:solidFill>
                  <a:srgbClr val="6A8BAF"/>
                </a:solidFill>
                <a:latin typeface="Courier New" pitchFamily="34" charset="0"/>
                <a:ea typeface="Courier New" pitchFamily="34" charset="-122"/>
                <a:cs typeface="Courier New" pitchFamily="34" charset="-120"/>
              </a:rPr>
              <a:t># 3. Many date formats -&gt; one ISO format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d</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dateutil</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parser</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parse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"13 November 1850"</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d</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strftime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"%Y-%m-%d"</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i="1" dirty="0">
                <a:solidFill>
                  <a:srgbClr val="6A8BAF"/>
                </a:solidFill>
                <a:latin typeface="Courier New" pitchFamily="34" charset="0"/>
                <a:ea typeface="Courier New" pitchFamily="34" charset="-122"/>
                <a:cs typeface="Courier New" pitchFamily="34" charset="-120"/>
              </a:rPr>
              <a:t># '1850-11-13'</a:t>
            </a:r>
            <a:endParaRPr lang="en-US" sz="900" dirty="0"/>
          </a:p>
        </p:txBody>
      </p:sp>
      <p:sp>
        <p:nvSpPr>
          <p:cNvPr id="11" name="Text 9"/>
          <p:cNvSpPr txBox="1"/>
          <p:nvPr/>
        </p:nvSpPr>
        <p:spPr>
          <a:xfrm>
            <a:off x="5943600" y="1234440"/>
            <a:ext cx="2743200" cy="228600"/>
          </a:xfrm>
          <a:prstGeom prst="rect">
            <a:avLst/>
          </a:prstGeom>
          <a:noFill/>
          <a:ln/>
        </p:spPr>
        <p:txBody>
          <a:bodyPr wrap="square" lIns="0" tIns="0" rIns="0" bIns="0" rtlCol="0" anchor="ctr"/>
          <a:lstStyle/>
          <a:p>
            <a:pPr indent="0" marL="0">
              <a:buNone/>
            </a:pPr>
            <a:r>
              <a:rPr lang="en-US" sz="1000" b="1" spc="200" kern="0" dirty="0">
                <a:solidFill>
                  <a:srgbClr val="00D4FF"/>
                </a:solidFill>
                <a:latin typeface="Calibri" pitchFamily="34" charset="0"/>
                <a:ea typeface="Calibri" pitchFamily="34" charset="-122"/>
                <a:cs typeface="Calibri" pitchFamily="34" charset="-120"/>
              </a:rPr>
              <a:t>BEFORE  →  AFTER</a:t>
            </a:r>
            <a:endParaRPr lang="en-US" sz="1000" dirty="0"/>
          </a:p>
        </p:txBody>
      </p:sp>
      <p:sp>
        <p:nvSpPr>
          <p:cNvPr id="12" name="Shape 10"/>
          <p:cNvSpPr/>
          <p:nvPr/>
        </p:nvSpPr>
        <p:spPr>
          <a:xfrm>
            <a:off x="5943600" y="1554480"/>
            <a:ext cx="2743200" cy="530352"/>
          </a:xfrm>
          <a:prstGeom prst="roundRect">
            <a:avLst>
              <a:gd name="adj" fmla="val 17241"/>
            </a:avLst>
          </a:prstGeom>
          <a:solidFill>
            <a:srgbClr val="1A2550">
              <a:alpha val="70000"/>
            </a:srgbClr>
          </a:solidFill>
          <a:ln w="12700">
            <a:solidFill>
              <a:srgbClr val="2E4A8A"/>
            </a:solidFill>
            <a:prstDash val="solid"/>
          </a:ln>
        </p:spPr>
      </p:sp>
      <p:sp>
        <p:nvSpPr>
          <p:cNvPr id="13" name="Text 11"/>
          <p:cNvSpPr txBox="1"/>
          <p:nvPr/>
        </p:nvSpPr>
        <p:spPr>
          <a:xfrm>
            <a:off x="6053328" y="1609344"/>
            <a:ext cx="2523744" cy="182880"/>
          </a:xfrm>
          <a:prstGeom prst="rect">
            <a:avLst/>
          </a:prstGeom>
          <a:noFill/>
          <a:ln/>
        </p:spPr>
        <p:txBody>
          <a:bodyPr wrap="square" lIns="0" tIns="0" rIns="0" bIns="0" rtlCol="0" anchor="ctr"/>
          <a:lstStyle/>
          <a:p>
            <a:pPr indent="0" marL="0">
              <a:buNone/>
            </a:pPr>
            <a:r>
              <a:rPr lang="en-US" sz="850" dirty="0">
                <a:solidFill>
                  <a:srgbClr val="A9BCE0"/>
                </a:solidFill>
                <a:latin typeface="Calibri" pitchFamily="34" charset="0"/>
                <a:ea typeface="Calibri" pitchFamily="34" charset="-122"/>
                <a:cs typeface="Calibri" pitchFamily="34" charset="-120"/>
              </a:rPr>
              <a:t>Duplicate author name</a:t>
            </a:r>
            <a:endParaRPr lang="en-US" sz="850" dirty="0"/>
          </a:p>
        </p:txBody>
      </p:sp>
      <p:sp>
        <p:nvSpPr>
          <p:cNvPr id="14" name="Text 12"/>
          <p:cNvSpPr txBox="1"/>
          <p:nvPr/>
        </p:nvSpPr>
        <p:spPr>
          <a:xfrm>
            <a:off x="6053328" y="1810512"/>
            <a:ext cx="2523744" cy="256032"/>
          </a:xfrm>
          <a:prstGeom prst="rect">
            <a:avLst/>
          </a:prstGeom>
          <a:noFill/>
          <a:ln/>
        </p:spPr>
        <p:txBody>
          <a:bodyPr wrap="square" lIns="0" tIns="0" rIns="0" bIns="0" rtlCol="0" anchor="ctr">
            <a:normAutofit/>
          </a:bodyPr>
          <a:lstStyle/>
          <a:p>
            <a:pPr indent="0" marL="0">
              <a:buNone/>
            </a:pPr>
            <a:r>
              <a:rPr lang="en-US" sz="1050" dirty="0">
                <a:solidFill>
                  <a:srgbClr val="FF6B93"/>
                </a:solidFill>
                <a:latin typeface="Calibri" pitchFamily="34" charset="0"/>
                <a:ea typeface="Calibri" pitchFamily="34" charset="-122"/>
                <a:cs typeface="Calibri" pitchFamily="34" charset="-120"/>
              </a:rPr>
              <a:t>R. Mead, R. Mead</a:t>
            </a:r>
            <a:pPr indent="0" marL="0">
              <a:buNone/>
            </a:pPr>
            <a:r>
              <a:rPr lang="en-US" sz="1050" dirty="0">
                <a:solidFill>
                  <a:srgbClr val="A9BCE0"/>
                </a:solidFill>
                <a:latin typeface="Calibri" pitchFamily="34" charset="0"/>
                <a:ea typeface="Calibri" pitchFamily="34" charset="-122"/>
                <a:cs typeface="Calibri" pitchFamily="34" charset="-120"/>
              </a:rPr>
              <a:t>   →   </a:t>
            </a:r>
            <a:pPr indent="0" marL="0">
              <a:buNone/>
            </a:pPr>
            <a:r>
              <a:rPr lang="en-US" sz="1050" b="1" dirty="0">
                <a:solidFill>
                  <a:srgbClr val="34E3A8"/>
                </a:solidFill>
                <a:latin typeface="Calibri" pitchFamily="34" charset="0"/>
                <a:ea typeface="Calibri" pitchFamily="34" charset="-122"/>
                <a:cs typeface="Calibri" pitchFamily="34" charset="-120"/>
              </a:rPr>
              <a:t>R. Mead</a:t>
            </a:r>
            <a:endParaRPr lang="en-US" sz="1050" dirty="0"/>
          </a:p>
        </p:txBody>
      </p:sp>
      <p:sp>
        <p:nvSpPr>
          <p:cNvPr id="15" name="Shape 13"/>
          <p:cNvSpPr/>
          <p:nvPr/>
        </p:nvSpPr>
        <p:spPr>
          <a:xfrm>
            <a:off x="5943600" y="2157984"/>
            <a:ext cx="2743200" cy="530352"/>
          </a:xfrm>
          <a:prstGeom prst="roundRect">
            <a:avLst>
              <a:gd name="adj" fmla="val 17241"/>
            </a:avLst>
          </a:prstGeom>
          <a:solidFill>
            <a:srgbClr val="1A2550">
              <a:alpha val="70000"/>
            </a:srgbClr>
          </a:solidFill>
          <a:ln w="12700">
            <a:solidFill>
              <a:srgbClr val="2E4A8A"/>
            </a:solidFill>
            <a:prstDash val="solid"/>
          </a:ln>
        </p:spPr>
      </p:sp>
      <p:sp>
        <p:nvSpPr>
          <p:cNvPr id="16" name="Text 14"/>
          <p:cNvSpPr txBox="1"/>
          <p:nvPr/>
        </p:nvSpPr>
        <p:spPr>
          <a:xfrm>
            <a:off x="6053328" y="2212848"/>
            <a:ext cx="2523744" cy="182880"/>
          </a:xfrm>
          <a:prstGeom prst="rect">
            <a:avLst/>
          </a:prstGeom>
          <a:noFill/>
          <a:ln/>
        </p:spPr>
        <p:txBody>
          <a:bodyPr wrap="square" lIns="0" tIns="0" rIns="0" bIns="0" rtlCol="0" anchor="ctr"/>
          <a:lstStyle/>
          <a:p>
            <a:pPr indent="0" marL="0">
              <a:buNone/>
            </a:pPr>
            <a:r>
              <a:rPr lang="en-US" sz="850" dirty="0">
                <a:solidFill>
                  <a:srgbClr val="A9BCE0"/>
                </a:solidFill>
                <a:latin typeface="Calibri" pitchFamily="34" charset="0"/>
                <a:ea typeface="Calibri" pitchFamily="34" charset="-122"/>
                <a:cs typeface="Calibri" pitchFamily="34" charset="-120"/>
              </a:rPr>
              <a:t>Genre label</a:t>
            </a:r>
            <a:endParaRPr lang="en-US" sz="850" dirty="0"/>
          </a:p>
        </p:txBody>
      </p:sp>
      <p:sp>
        <p:nvSpPr>
          <p:cNvPr id="17" name="Text 15"/>
          <p:cNvSpPr txBox="1"/>
          <p:nvPr/>
        </p:nvSpPr>
        <p:spPr>
          <a:xfrm>
            <a:off x="6053328" y="2414016"/>
            <a:ext cx="2523744" cy="256032"/>
          </a:xfrm>
          <a:prstGeom prst="rect">
            <a:avLst/>
          </a:prstGeom>
          <a:noFill/>
          <a:ln/>
        </p:spPr>
        <p:txBody>
          <a:bodyPr wrap="square" lIns="0" tIns="0" rIns="0" bIns="0" rtlCol="0" anchor="ctr">
            <a:normAutofit/>
          </a:bodyPr>
          <a:lstStyle/>
          <a:p>
            <a:pPr indent="0" marL="0">
              <a:buNone/>
            </a:pPr>
            <a:r>
              <a:rPr lang="en-US" sz="1050" dirty="0">
                <a:solidFill>
                  <a:srgbClr val="FF6B93"/>
                </a:solidFill>
                <a:latin typeface="Calibri" pitchFamily="34" charset="0"/>
                <a:ea typeface="Calibri" pitchFamily="34" charset="-122"/>
                <a:cs typeface="Calibri" pitchFamily="34" charset="-120"/>
              </a:rPr>
              <a:t>science_fiction</a:t>
            </a:r>
            <a:pPr indent="0" marL="0">
              <a:buNone/>
            </a:pPr>
            <a:r>
              <a:rPr lang="en-US" sz="1050" dirty="0">
                <a:solidFill>
                  <a:srgbClr val="A9BCE0"/>
                </a:solidFill>
                <a:latin typeface="Calibri" pitchFamily="34" charset="0"/>
                <a:ea typeface="Calibri" pitchFamily="34" charset="-122"/>
                <a:cs typeface="Calibri" pitchFamily="34" charset="-120"/>
              </a:rPr>
              <a:t>   →   </a:t>
            </a:r>
            <a:pPr indent="0" marL="0">
              <a:buNone/>
            </a:pPr>
            <a:r>
              <a:rPr lang="en-US" sz="1050" b="1" dirty="0">
                <a:solidFill>
                  <a:srgbClr val="34E3A8"/>
                </a:solidFill>
                <a:latin typeface="Calibri" pitchFamily="34" charset="0"/>
                <a:ea typeface="Calibri" pitchFamily="34" charset="-122"/>
                <a:cs typeface="Calibri" pitchFamily="34" charset="-120"/>
              </a:rPr>
              <a:t>Sci-Fi</a:t>
            </a:r>
            <a:endParaRPr lang="en-US" sz="1050" dirty="0"/>
          </a:p>
        </p:txBody>
      </p:sp>
      <p:sp>
        <p:nvSpPr>
          <p:cNvPr id="18" name="Shape 16"/>
          <p:cNvSpPr/>
          <p:nvPr/>
        </p:nvSpPr>
        <p:spPr>
          <a:xfrm>
            <a:off x="5943600" y="2761488"/>
            <a:ext cx="2743200" cy="530352"/>
          </a:xfrm>
          <a:prstGeom prst="roundRect">
            <a:avLst>
              <a:gd name="adj" fmla="val 17241"/>
            </a:avLst>
          </a:prstGeom>
          <a:solidFill>
            <a:srgbClr val="1A2550">
              <a:alpha val="70000"/>
            </a:srgbClr>
          </a:solidFill>
          <a:ln w="12700">
            <a:solidFill>
              <a:srgbClr val="2E4A8A"/>
            </a:solidFill>
            <a:prstDash val="solid"/>
          </a:ln>
        </p:spPr>
      </p:sp>
      <p:sp>
        <p:nvSpPr>
          <p:cNvPr id="19" name="Text 17"/>
          <p:cNvSpPr txBox="1"/>
          <p:nvPr/>
        </p:nvSpPr>
        <p:spPr>
          <a:xfrm>
            <a:off x="6053328" y="2816352"/>
            <a:ext cx="2523744" cy="182880"/>
          </a:xfrm>
          <a:prstGeom prst="rect">
            <a:avLst/>
          </a:prstGeom>
          <a:noFill/>
          <a:ln/>
        </p:spPr>
        <p:txBody>
          <a:bodyPr wrap="square" lIns="0" tIns="0" rIns="0" bIns="0" rtlCol="0" anchor="ctr"/>
          <a:lstStyle/>
          <a:p>
            <a:pPr indent="0" marL="0">
              <a:buNone/>
            </a:pPr>
            <a:r>
              <a:rPr lang="en-US" sz="850" dirty="0">
                <a:solidFill>
                  <a:srgbClr val="A9BCE0"/>
                </a:solidFill>
                <a:latin typeface="Calibri" pitchFamily="34" charset="0"/>
                <a:ea typeface="Calibri" pitchFamily="34" charset="-122"/>
                <a:cs typeface="Calibri" pitchFamily="34" charset="-120"/>
              </a:rPr>
              <a:t>Author birth date</a:t>
            </a:r>
            <a:endParaRPr lang="en-US" sz="850" dirty="0"/>
          </a:p>
        </p:txBody>
      </p:sp>
      <p:sp>
        <p:nvSpPr>
          <p:cNvPr id="20" name="Text 18"/>
          <p:cNvSpPr txBox="1"/>
          <p:nvPr/>
        </p:nvSpPr>
        <p:spPr>
          <a:xfrm>
            <a:off x="6053328" y="3017520"/>
            <a:ext cx="2523744" cy="256032"/>
          </a:xfrm>
          <a:prstGeom prst="rect">
            <a:avLst/>
          </a:prstGeom>
          <a:noFill/>
          <a:ln/>
        </p:spPr>
        <p:txBody>
          <a:bodyPr wrap="square" lIns="0" tIns="0" rIns="0" bIns="0" rtlCol="0" anchor="ctr">
            <a:normAutofit/>
          </a:bodyPr>
          <a:lstStyle/>
          <a:p>
            <a:pPr indent="0" marL="0">
              <a:buNone/>
            </a:pPr>
            <a:r>
              <a:rPr lang="en-US" sz="1050" dirty="0">
                <a:solidFill>
                  <a:srgbClr val="FF6B93"/>
                </a:solidFill>
                <a:latin typeface="Calibri" pitchFamily="34" charset="0"/>
                <a:ea typeface="Calibri" pitchFamily="34" charset="-122"/>
                <a:cs typeface="Calibri" pitchFamily="34" charset="-120"/>
              </a:rPr>
              <a:t>13 November 1850</a:t>
            </a:r>
            <a:pPr indent="0" marL="0">
              <a:buNone/>
            </a:pPr>
            <a:r>
              <a:rPr lang="en-US" sz="1050" dirty="0">
                <a:solidFill>
                  <a:srgbClr val="A9BCE0"/>
                </a:solidFill>
                <a:latin typeface="Calibri" pitchFamily="34" charset="0"/>
                <a:ea typeface="Calibri" pitchFamily="34" charset="-122"/>
                <a:cs typeface="Calibri" pitchFamily="34" charset="-120"/>
              </a:rPr>
              <a:t>   →   </a:t>
            </a:r>
            <a:pPr indent="0" marL="0">
              <a:buNone/>
            </a:pPr>
            <a:r>
              <a:rPr lang="en-US" sz="1050" b="1" dirty="0">
                <a:solidFill>
                  <a:srgbClr val="34E3A8"/>
                </a:solidFill>
                <a:latin typeface="Calibri" pitchFamily="34" charset="0"/>
                <a:ea typeface="Calibri" pitchFamily="34" charset="-122"/>
                <a:cs typeface="Calibri" pitchFamily="34" charset="-120"/>
              </a:rPr>
              <a:t>1850-11-13</a:t>
            </a:r>
            <a:endParaRPr lang="en-US" sz="1050" dirty="0"/>
          </a:p>
        </p:txBody>
      </p:sp>
      <p:sp>
        <p:nvSpPr>
          <p:cNvPr id="21" name="Shape 19"/>
          <p:cNvSpPr/>
          <p:nvPr/>
        </p:nvSpPr>
        <p:spPr>
          <a:xfrm>
            <a:off x="5943600" y="3364992"/>
            <a:ext cx="2743200" cy="530352"/>
          </a:xfrm>
          <a:prstGeom prst="roundRect">
            <a:avLst>
              <a:gd name="adj" fmla="val 17241"/>
            </a:avLst>
          </a:prstGeom>
          <a:solidFill>
            <a:srgbClr val="1A2550">
              <a:alpha val="70000"/>
            </a:srgbClr>
          </a:solidFill>
          <a:ln w="12700">
            <a:solidFill>
              <a:srgbClr val="2E4A8A"/>
            </a:solidFill>
            <a:prstDash val="solid"/>
          </a:ln>
        </p:spPr>
      </p:sp>
      <p:sp>
        <p:nvSpPr>
          <p:cNvPr id="22" name="Text 20"/>
          <p:cNvSpPr txBox="1"/>
          <p:nvPr/>
        </p:nvSpPr>
        <p:spPr>
          <a:xfrm>
            <a:off x="6053328" y="3419856"/>
            <a:ext cx="2523744" cy="182880"/>
          </a:xfrm>
          <a:prstGeom prst="rect">
            <a:avLst/>
          </a:prstGeom>
          <a:noFill/>
          <a:ln/>
        </p:spPr>
        <p:txBody>
          <a:bodyPr wrap="square" lIns="0" tIns="0" rIns="0" bIns="0" rtlCol="0" anchor="ctr"/>
          <a:lstStyle/>
          <a:p>
            <a:pPr indent="0" marL="0">
              <a:buNone/>
            </a:pPr>
            <a:r>
              <a:rPr lang="en-US" sz="850" dirty="0">
                <a:solidFill>
                  <a:srgbClr val="A9BCE0"/>
                </a:solidFill>
                <a:latin typeface="Calibri" pitchFamily="34" charset="0"/>
                <a:ea typeface="Calibri" pitchFamily="34" charset="-122"/>
                <a:cs typeface="Calibri" pitchFamily="34" charset="-120"/>
              </a:rPr>
              <a:t>Author birth date</a:t>
            </a:r>
            <a:endParaRPr lang="en-US" sz="850" dirty="0"/>
          </a:p>
        </p:txBody>
      </p:sp>
      <p:sp>
        <p:nvSpPr>
          <p:cNvPr id="23" name="Text 21"/>
          <p:cNvSpPr txBox="1"/>
          <p:nvPr/>
        </p:nvSpPr>
        <p:spPr>
          <a:xfrm>
            <a:off x="6053328" y="3621024"/>
            <a:ext cx="2523744" cy="256032"/>
          </a:xfrm>
          <a:prstGeom prst="rect">
            <a:avLst/>
          </a:prstGeom>
          <a:noFill/>
          <a:ln/>
        </p:spPr>
        <p:txBody>
          <a:bodyPr wrap="square" lIns="0" tIns="0" rIns="0" bIns="0" rtlCol="0" anchor="ctr">
            <a:normAutofit/>
          </a:bodyPr>
          <a:lstStyle/>
          <a:p>
            <a:pPr indent="0" marL="0">
              <a:buNone/>
            </a:pPr>
            <a:r>
              <a:rPr lang="en-US" sz="1050" dirty="0">
                <a:solidFill>
                  <a:srgbClr val="FF6B93"/>
                </a:solidFill>
                <a:latin typeface="Calibri" pitchFamily="34" charset="0"/>
                <a:ea typeface="Calibri" pitchFamily="34" charset="-122"/>
                <a:cs typeface="Calibri" pitchFamily="34" charset="-120"/>
              </a:rPr>
              <a:t>August 14, 1947</a:t>
            </a:r>
            <a:pPr indent="0" marL="0">
              <a:buNone/>
            </a:pPr>
            <a:r>
              <a:rPr lang="en-US" sz="1050" dirty="0">
                <a:solidFill>
                  <a:srgbClr val="A9BCE0"/>
                </a:solidFill>
                <a:latin typeface="Calibri" pitchFamily="34" charset="0"/>
                <a:ea typeface="Calibri" pitchFamily="34" charset="-122"/>
                <a:cs typeface="Calibri" pitchFamily="34" charset="-120"/>
              </a:rPr>
              <a:t>   →   </a:t>
            </a:r>
            <a:pPr indent="0" marL="0">
              <a:buNone/>
            </a:pPr>
            <a:r>
              <a:rPr lang="en-US" sz="1050" b="1" dirty="0">
                <a:solidFill>
                  <a:srgbClr val="34E3A8"/>
                </a:solidFill>
                <a:latin typeface="Calibri" pitchFamily="34" charset="0"/>
                <a:ea typeface="Calibri" pitchFamily="34" charset="-122"/>
                <a:cs typeface="Calibri" pitchFamily="34" charset="-120"/>
              </a:rPr>
              <a:t>1947-08-14</a:t>
            </a:r>
            <a:endParaRPr lang="en-US" sz="1050" dirty="0"/>
          </a:p>
        </p:txBody>
      </p:sp>
      <p:sp>
        <p:nvSpPr>
          <p:cNvPr id="24" name="Shape 22"/>
          <p:cNvSpPr/>
          <p:nvPr/>
        </p:nvSpPr>
        <p:spPr>
          <a:xfrm>
            <a:off x="5943600" y="3968496"/>
            <a:ext cx="2743200" cy="530352"/>
          </a:xfrm>
          <a:prstGeom prst="roundRect">
            <a:avLst>
              <a:gd name="adj" fmla="val 17241"/>
            </a:avLst>
          </a:prstGeom>
          <a:solidFill>
            <a:srgbClr val="1A2550">
              <a:alpha val="70000"/>
            </a:srgbClr>
          </a:solidFill>
          <a:ln w="12700">
            <a:solidFill>
              <a:srgbClr val="2E4A8A"/>
            </a:solidFill>
            <a:prstDash val="solid"/>
          </a:ln>
        </p:spPr>
      </p:sp>
      <p:sp>
        <p:nvSpPr>
          <p:cNvPr id="25" name="Text 23"/>
          <p:cNvSpPr txBox="1"/>
          <p:nvPr/>
        </p:nvSpPr>
        <p:spPr>
          <a:xfrm>
            <a:off x="6053328" y="4023360"/>
            <a:ext cx="2523744" cy="182880"/>
          </a:xfrm>
          <a:prstGeom prst="rect">
            <a:avLst/>
          </a:prstGeom>
          <a:noFill/>
          <a:ln/>
        </p:spPr>
        <p:txBody>
          <a:bodyPr wrap="square" lIns="0" tIns="0" rIns="0" bIns="0" rtlCol="0" anchor="ctr"/>
          <a:lstStyle/>
          <a:p>
            <a:pPr indent="0" marL="0">
              <a:buNone/>
            </a:pPr>
            <a:r>
              <a:rPr lang="en-US" sz="850" dirty="0">
                <a:solidFill>
                  <a:srgbClr val="A9BCE0"/>
                </a:solidFill>
                <a:latin typeface="Calibri" pitchFamily="34" charset="0"/>
                <a:ea typeface="Calibri" pitchFamily="34" charset="-122"/>
                <a:cs typeface="Calibri" pitchFamily="34" charset="-120"/>
              </a:rPr>
              <a:t>Extra author note</a:t>
            </a:r>
            <a:endParaRPr lang="en-US" sz="850" dirty="0"/>
          </a:p>
        </p:txBody>
      </p:sp>
      <p:sp>
        <p:nvSpPr>
          <p:cNvPr id="26" name="Text 24"/>
          <p:cNvSpPr txBox="1"/>
          <p:nvPr/>
        </p:nvSpPr>
        <p:spPr>
          <a:xfrm>
            <a:off x="6053328" y="4224528"/>
            <a:ext cx="2523744" cy="256032"/>
          </a:xfrm>
          <a:prstGeom prst="rect">
            <a:avLst/>
          </a:prstGeom>
          <a:noFill/>
          <a:ln/>
        </p:spPr>
        <p:txBody>
          <a:bodyPr wrap="square" lIns="0" tIns="0" rIns="0" bIns="0" rtlCol="0" anchor="ctr">
            <a:normAutofit/>
          </a:bodyPr>
          <a:lstStyle/>
          <a:p>
            <a:pPr indent="0" marL="0">
              <a:buNone/>
            </a:pPr>
            <a:r>
              <a:rPr lang="en-US" sz="1050" dirty="0">
                <a:solidFill>
                  <a:srgbClr val="FF6B93"/>
                </a:solidFill>
                <a:latin typeface="Calibri" pitchFamily="34" charset="0"/>
                <a:ea typeface="Calibri" pitchFamily="34" charset="-122"/>
                <a:cs typeface="Calibri" pitchFamily="34" charset="-120"/>
              </a:rPr>
              <a:t>Adapted by S. Spinner</a:t>
            </a:r>
            <a:pPr indent="0" marL="0">
              <a:buNone/>
            </a:pPr>
            <a:r>
              <a:rPr lang="en-US" sz="1050" dirty="0">
                <a:solidFill>
                  <a:srgbClr val="A9BCE0"/>
                </a:solidFill>
                <a:latin typeface="Calibri" pitchFamily="34" charset="0"/>
                <a:ea typeface="Calibri" pitchFamily="34" charset="-122"/>
                <a:cs typeface="Calibri" pitchFamily="34" charset="-120"/>
              </a:rPr>
              <a:t>   →   </a:t>
            </a:r>
            <a:pPr indent="0" marL="0">
              <a:buNone/>
            </a:pPr>
            <a:r>
              <a:rPr lang="en-US" sz="1050" b="1" dirty="0">
                <a:solidFill>
                  <a:srgbClr val="34E3A8"/>
                </a:solidFill>
                <a:latin typeface="Calibri" pitchFamily="34" charset="0"/>
                <a:ea typeface="Calibri" pitchFamily="34" charset="-122"/>
                <a:cs typeface="Calibri" pitchFamily="34" charset="-120"/>
              </a:rPr>
              <a:t>S. Spinner</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56032"/>
          </a:xfrm>
          <a:prstGeom prst="rect">
            <a:avLst/>
          </a:prstGeom>
          <a:noFill/>
          <a:ln/>
        </p:spPr>
        <p:txBody>
          <a:bodyPr wrap="square" lIns="0" tIns="0" rIns="0" bIns="0" rtlCol="0" anchor="ctr"/>
          <a:lstStyle/>
          <a:p>
            <a:pPr indent="0" marL="0">
              <a:buNone/>
            </a:pPr>
            <a:r>
              <a:rPr lang="en-US" sz="1000" b="1" spc="400" kern="0" dirty="0">
                <a:solidFill>
                  <a:srgbClr val="00D4FF"/>
                </a:solidFill>
                <a:latin typeface="Calibri" pitchFamily="34" charset="0"/>
                <a:ea typeface="Calibri" pitchFamily="34" charset="-122"/>
                <a:cs typeface="Calibri" pitchFamily="34" charset="-120"/>
              </a:rPr>
              <a:t>DATA WRANGLING  •  STEP 2</a:t>
            </a:r>
            <a:endParaRPr lang="en-US" sz="1000" dirty="0"/>
          </a:p>
        </p:txBody>
      </p:sp>
      <p:sp>
        <p:nvSpPr>
          <p:cNvPr id="3" name="Text 1"/>
          <p:cNvSpPr txBox="1"/>
          <p:nvPr/>
        </p:nvSpPr>
        <p:spPr>
          <a:xfrm>
            <a:off x="457200" y="530352"/>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Remove Incorrect Values &amp; Duplicates</a:t>
            </a:r>
            <a:endParaRPr lang="en-US" sz="26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A9BCE0"/>
                </a:solidFill>
                <a:latin typeface="Calibri" pitchFamily="34" charset="0"/>
                <a:ea typeface="Calibri" pitchFamily="34" charset="-122"/>
                <a:cs typeface="Calibri" pitchFamily="34" charset="-120"/>
              </a:rPr>
              <a:t>07 / 12</a:t>
            </a:r>
            <a:endParaRPr lang="en-US" sz="900" dirty="0"/>
          </a:p>
        </p:txBody>
      </p:sp>
      <p:sp>
        <p:nvSpPr>
          <p:cNvPr id="5" name="Shape 3"/>
          <p:cNvSpPr/>
          <p:nvPr/>
        </p:nvSpPr>
        <p:spPr>
          <a:xfrm>
            <a:off x="457200" y="1234440"/>
            <a:ext cx="5257800" cy="3383280"/>
          </a:xfrm>
          <a:prstGeom prst="roundRect">
            <a:avLst>
              <a:gd name="adj" fmla="val 2162"/>
            </a:avLst>
          </a:prstGeom>
          <a:solidFill>
            <a:srgbClr val="070C22">
              <a:alpha val="92000"/>
            </a:srgbClr>
          </a:solidFill>
          <a:ln w="12700">
            <a:solidFill>
              <a:srgbClr val="2E4A8A"/>
            </a:solidFill>
            <a:prstDash val="solid"/>
          </a:ln>
        </p:spPr>
      </p:sp>
      <p:sp>
        <p:nvSpPr>
          <p:cNvPr id="6" name="Shape 4"/>
          <p:cNvSpPr/>
          <p:nvPr/>
        </p:nvSpPr>
        <p:spPr>
          <a:xfrm>
            <a:off x="594360" y="1344168"/>
            <a:ext cx="82296" cy="82296"/>
          </a:xfrm>
          <a:prstGeom prst="ellipse">
            <a:avLst/>
          </a:prstGeom>
          <a:solidFill>
            <a:srgbClr val="FF5F57"/>
          </a:solidFill>
          <a:ln w="12700">
            <a:solidFill>
              <a:srgbClr val="FF5F57"/>
            </a:solidFill>
            <a:prstDash val="solid"/>
          </a:ln>
        </p:spPr>
      </p:sp>
      <p:sp>
        <p:nvSpPr>
          <p:cNvPr id="7" name="Shape 5"/>
          <p:cNvSpPr/>
          <p:nvPr/>
        </p:nvSpPr>
        <p:spPr>
          <a:xfrm>
            <a:off x="731520" y="1344168"/>
            <a:ext cx="82296" cy="82296"/>
          </a:xfrm>
          <a:prstGeom prst="ellipse">
            <a:avLst/>
          </a:prstGeom>
          <a:solidFill>
            <a:srgbClr val="FEBC2E"/>
          </a:solidFill>
          <a:ln w="12700">
            <a:solidFill>
              <a:srgbClr val="FEBC2E"/>
            </a:solidFill>
            <a:prstDash val="solid"/>
          </a:ln>
        </p:spPr>
      </p:sp>
      <p:sp>
        <p:nvSpPr>
          <p:cNvPr id="8" name="Shape 6"/>
          <p:cNvSpPr/>
          <p:nvPr/>
        </p:nvSpPr>
        <p:spPr>
          <a:xfrm>
            <a:off x="868680" y="1344168"/>
            <a:ext cx="82296" cy="82296"/>
          </a:xfrm>
          <a:prstGeom prst="ellipse">
            <a:avLst/>
          </a:prstGeom>
          <a:solidFill>
            <a:srgbClr val="28C840"/>
          </a:solidFill>
          <a:ln w="12700">
            <a:solidFill>
              <a:srgbClr val="28C840"/>
            </a:solidFill>
            <a:prstDash val="solid"/>
          </a:ln>
        </p:spPr>
      </p:sp>
      <p:sp>
        <p:nvSpPr>
          <p:cNvPr id="9" name="Text 7"/>
          <p:cNvSpPr txBox="1"/>
          <p:nvPr/>
        </p:nvSpPr>
        <p:spPr>
          <a:xfrm>
            <a:off x="1051560" y="1289304"/>
            <a:ext cx="4526280" cy="182880"/>
          </a:xfrm>
          <a:prstGeom prst="rect">
            <a:avLst/>
          </a:prstGeom>
          <a:noFill/>
          <a:ln/>
        </p:spPr>
        <p:txBody>
          <a:bodyPr wrap="square" lIns="0" tIns="0" rIns="0" bIns="0" rtlCol="0" anchor="ctr"/>
          <a:lstStyle/>
          <a:p>
            <a:pPr indent="0" marL="0">
              <a:buNone/>
            </a:pPr>
            <a:r>
              <a:rPr lang="en-US" sz="800" dirty="0">
                <a:solidFill>
                  <a:srgbClr val="A9BCE0"/>
                </a:solidFill>
                <a:latin typeface="Courier New" pitchFamily="34" charset="0"/>
                <a:ea typeface="Courier New" pitchFamily="34" charset="-122"/>
                <a:cs typeface="Courier New" pitchFamily="34" charset="-120"/>
              </a:rPr>
              <a:t>book_data_wrangling.py</a:t>
            </a:r>
            <a:endParaRPr lang="en-US" sz="800" dirty="0"/>
          </a:p>
        </p:txBody>
      </p:sp>
      <p:sp>
        <p:nvSpPr>
          <p:cNvPr id="10" name="Text 8"/>
          <p:cNvSpPr txBox="1"/>
          <p:nvPr/>
        </p:nvSpPr>
        <p:spPr>
          <a:xfrm>
            <a:off x="621792" y="1563624"/>
            <a:ext cx="4983480" cy="2962656"/>
          </a:xfrm>
          <a:prstGeom prst="rect">
            <a:avLst/>
          </a:prstGeom>
          <a:noFill/>
          <a:ln/>
        </p:spPr>
        <p:txBody>
          <a:bodyPr wrap="square" lIns="0" tIns="0" rIns="0" bIns="0" rtlCol="0" anchor="t"/>
          <a:lstStyle/>
          <a:p>
            <a:pPr indent="0" marL="0">
              <a:lnSpc>
                <a:spcPct val="100000"/>
              </a:lnSpc>
              <a:buNone/>
            </a:pPr>
            <a:r>
              <a:rPr lang="en-US" sz="900" i="1" dirty="0">
                <a:solidFill>
                  <a:srgbClr val="6A8BAF"/>
                </a:solidFill>
                <a:latin typeface="Courier New" pitchFamily="34" charset="0"/>
                <a:ea typeface="Courier New" pitchFamily="34" charset="-122"/>
                <a:cs typeface="Courier New" pitchFamily="34" charset="-120"/>
              </a:rPr>
              <a:t># Impossible or placeholder publish years -&gt; missing</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bad</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"Publish_Year"</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lt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(1450)</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"Publish_Year"</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gt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(2026)</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bad</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"Publish_Year"</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isin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([1800,</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8C9C"/>
                </a:solidFill>
                <a:latin typeface="Courier New" pitchFamily="34" charset="0"/>
                <a:ea typeface="Courier New" pitchFamily="34" charset="-122"/>
                <a:cs typeface="Courier New" pitchFamily="34" charset="-120"/>
              </a:rPr>
              <a:t>1900])</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i="1" dirty="0">
                <a:solidFill>
                  <a:srgbClr val="6A8BAF"/>
                </a:solidFill>
                <a:latin typeface="Courier New" pitchFamily="34" charset="0"/>
                <a:ea typeface="Courier New" pitchFamily="34" charset="-122"/>
                <a:cs typeface="Courier New" pitchFamily="34" charset="-120"/>
              </a:rPr>
              <a:t># "century" guesses</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bad</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"Publish_Year"</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&lt;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"Author_Birth_Year"</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8C9C"/>
                </a:solidFill>
                <a:latin typeface="Courier New" pitchFamily="34" charset="0"/>
                <a:ea typeface="Courier New" pitchFamily="34" charset="-122"/>
                <a:cs typeface="Courier New" pitchFamily="34" charset="-120"/>
              </a:rPr>
              <a:t>10</a:t>
            </a:r>
            <a:endParaRPr lang="en-US" sz="900" dirty="0"/>
          </a:p>
          <a:p>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loc</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bad</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"Publish_Year"</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pd</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NA</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endParaRPr lang="en-US" sz="900" dirty="0"/>
          </a:p>
          <a:p>
            <a:pPr indent="0" marL="0">
              <a:lnSpc>
                <a:spcPct val="100000"/>
              </a:lnSpc>
              <a:buNone/>
            </a:pPr>
            <a:r>
              <a:rPr lang="en-US" sz="900" i="1" dirty="0">
                <a:solidFill>
                  <a:srgbClr val="6A8BAF"/>
                </a:solidFill>
                <a:latin typeface="Courier New" pitchFamily="34" charset="0"/>
                <a:ea typeface="Courier New" pitchFamily="34" charset="-122"/>
                <a:cs typeface="Courier New" pitchFamily="34" charset="-120"/>
              </a:rPr>
              <a:t># 0.0 rating with 0 votes means "no rating", not a score</a:t>
            </a:r>
            <a:endParaRPr lang="en-US" sz="900" dirty="0"/>
          </a:p>
          <a:p>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loc</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"Rating_Count"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eq</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(0),</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"Average_Rating"</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np</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nan</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endParaRPr lang="en-US" sz="900" dirty="0"/>
          </a:p>
          <a:p>
            <a:pPr indent="0" marL="0">
              <a:lnSpc>
                <a:spcPct val="100000"/>
              </a:lnSpc>
              <a:buNone/>
            </a:pPr>
            <a:r>
              <a:rPr lang="en-US" sz="900" i="1" dirty="0">
                <a:solidFill>
                  <a:srgbClr val="6A8BAF"/>
                </a:solidFill>
                <a:latin typeface="Courier New" pitchFamily="34" charset="0"/>
                <a:ea typeface="Courier New" pitchFamily="34" charset="-122"/>
                <a:cs typeface="Courier New" pitchFamily="34" charset="-120"/>
              </a:rPr>
              <a:t># A novel can't have under 30 pages</a:t>
            </a:r>
            <a:endParaRPr lang="en-US" sz="900" dirty="0"/>
          </a:p>
          <a:p>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loc</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"Page_Count"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lt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(30),</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"Page_Count"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np</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nan</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endParaRPr lang="en-US" sz="900" dirty="0"/>
          </a:p>
          <a:p>
            <a:pPr indent="0" marL="0">
              <a:lnSpc>
                <a:spcPct val="100000"/>
              </a:lnSpc>
              <a:buNone/>
            </a:pPr>
            <a:r>
              <a:rPr lang="en-US" sz="900" i="1" dirty="0">
                <a:solidFill>
                  <a:srgbClr val="6A8BAF"/>
                </a:solidFill>
                <a:latin typeface="Courier New" pitchFamily="34" charset="0"/>
                <a:ea typeface="Courier New" pitchFamily="34" charset="-122"/>
                <a:cs typeface="Courier New" pitchFamily="34" charset="-120"/>
              </a:rPr>
              <a:t># Same title + same author = duplicate -&gt; keep most complete</a:t>
            </a:r>
            <a:endParaRPr lang="en-US" sz="900" dirty="0"/>
          </a:p>
          <a:p>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sort_values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"_filled"</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ascending</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C792EA"/>
                </a:solidFill>
                <a:latin typeface="Courier New" pitchFamily="34" charset="0"/>
                <a:ea typeface="Courier New" pitchFamily="34" charset="-122"/>
                <a:cs typeface="Courier New" pitchFamily="34" charset="-120"/>
              </a:rPr>
              <a:t>False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drop_duplicates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"_title"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"_author"</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p:txBody>
      </p:sp>
      <p:sp>
        <p:nvSpPr>
          <p:cNvPr id="11" name="Text 9"/>
          <p:cNvSpPr txBox="1"/>
          <p:nvPr/>
        </p:nvSpPr>
        <p:spPr>
          <a:xfrm>
            <a:off x="5943600" y="1234440"/>
            <a:ext cx="2743200" cy="228600"/>
          </a:xfrm>
          <a:prstGeom prst="rect">
            <a:avLst/>
          </a:prstGeom>
          <a:noFill/>
          <a:ln/>
        </p:spPr>
        <p:txBody>
          <a:bodyPr wrap="square" lIns="0" tIns="0" rIns="0" bIns="0" rtlCol="0" anchor="ctr"/>
          <a:lstStyle/>
          <a:p>
            <a:pPr indent="0" marL="0">
              <a:buNone/>
            </a:pPr>
            <a:r>
              <a:rPr lang="en-US" sz="1000" b="1" spc="200" kern="0" dirty="0">
                <a:solidFill>
                  <a:srgbClr val="00D4FF"/>
                </a:solidFill>
                <a:latin typeface="Calibri" pitchFamily="34" charset="0"/>
                <a:ea typeface="Calibri" pitchFamily="34" charset="-122"/>
                <a:cs typeface="Calibri" pitchFamily="34" charset="-120"/>
              </a:rPr>
              <a:t>BEFORE  →  AFTER</a:t>
            </a:r>
            <a:endParaRPr lang="en-US" sz="1000" dirty="0"/>
          </a:p>
        </p:txBody>
      </p:sp>
      <p:sp>
        <p:nvSpPr>
          <p:cNvPr id="12" name="Shape 10"/>
          <p:cNvSpPr/>
          <p:nvPr/>
        </p:nvSpPr>
        <p:spPr>
          <a:xfrm>
            <a:off x="5943600" y="1554480"/>
            <a:ext cx="2743200" cy="530352"/>
          </a:xfrm>
          <a:prstGeom prst="roundRect">
            <a:avLst>
              <a:gd name="adj" fmla="val 17241"/>
            </a:avLst>
          </a:prstGeom>
          <a:solidFill>
            <a:srgbClr val="1A2550">
              <a:alpha val="70000"/>
            </a:srgbClr>
          </a:solidFill>
          <a:ln w="12700">
            <a:solidFill>
              <a:srgbClr val="2E4A8A"/>
            </a:solidFill>
            <a:prstDash val="solid"/>
          </a:ln>
        </p:spPr>
      </p:sp>
      <p:sp>
        <p:nvSpPr>
          <p:cNvPr id="13" name="Text 11"/>
          <p:cNvSpPr txBox="1"/>
          <p:nvPr/>
        </p:nvSpPr>
        <p:spPr>
          <a:xfrm>
            <a:off x="6053328" y="1609344"/>
            <a:ext cx="2523744" cy="182880"/>
          </a:xfrm>
          <a:prstGeom prst="rect">
            <a:avLst/>
          </a:prstGeom>
          <a:noFill/>
          <a:ln/>
        </p:spPr>
        <p:txBody>
          <a:bodyPr wrap="square" lIns="0" tIns="0" rIns="0" bIns="0" rtlCol="0" anchor="ctr"/>
          <a:lstStyle/>
          <a:p>
            <a:pPr indent="0" marL="0">
              <a:buNone/>
            </a:pPr>
            <a:r>
              <a:rPr lang="en-US" sz="850" dirty="0">
                <a:solidFill>
                  <a:srgbClr val="A9BCE0"/>
                </a:solidFill>
                <a:latin typeface="Calibri" pitchFamily="34" charset="0"/>
                <a:ea typeface="Calibri" pitchFamily="34" charset="-122"/>
                <a:cs typeface="Calibri" pitchFamily="34" charset="-120"/>
              </a:rPr>
              <a:t>The Invisible Man — year</a:t>
            </a:r>
            <a:endParaRPr lang="en-US" sz="850" dirty="0"/>
          </a:p>
        </p:txBody>
      </p:sp>
      <p:sp>
        <p:nvSpPr>
          <p:cNvPr id="14" name="Text 12"/>
          <p:cNvSpPr txBox="1"/>
          <p:nvPr/>
        </p:nvSpPr>
        <p:spPr>
          <a:xfrm>
            <a:off x="6053328" y="1810512"/>
            <a:ext cx="2523744" cy="256032"/>
          </a:xfrm>
          <a:prstGeom prst="rect">
            <a:avLst/>
          </a:prstGeom>
          <a:noFill/>
          <a:ln/>
        </p:spPr>
        <p:txBody>
          <a:bodyPr wrap="square" lIns="0" tIns="0" rIns="0" bIns="0" rtlCol="0" anchor="ctr">
            <a:normAutofit/>
          </a:bodyPr>
          <a:lstStyle/>
          <a:p>
            <a:pPr indent="0" marL="0">
              <a:buNone/>
            </a:pPr>
            <a:r>
              <a:rPr lang="en-US" sz="1050" dirty="0">
                <a:solidFill>
                  <a:srgbClr val="FF6B93"/>
                </a:solidFill>
                <a:latin typeface="Calibri" pitchFamily="34" charset="0"/>
                <a:ea typeface="Calibri" pitchFamily="34" charset="-122"/>
                <a:cs typeface="Calibri" pitchFamily="34" charset="-120"/>
              </a:rPr>
              <a:t>0</a:t>
            </a:r>
            <a:pPr indent="0" marL="0">
              <a:buNone/>
            </a:pPr>
            <a:r>
              <a:rPr lang="en-US" sz="1050" dirty="0">
                <a:solidFill>
                  <a:srgbClr val="A9BCE0"/>
                </a:solidFill>
                <a:latin typeface="Calibri" pitchFamily="34" charset="0"/>
                <a:ea typeface="Calibri" pitchFamily="34" charset="-122"/>
                <a:cs typeface="Calibri" pitchFamily="34" charset="-120"/>
              </a:rPr>
              <a:t>   →   </a:t>
            </a:r>
            <a:pPr indent="0" marL="0">
              <a:buNone/>
            </a:pPr>
            <a:r>
              <a:rPr lang="en-US" sz="1050" b="1" dirty="0">
                <a:solidFill>
                  <a:srgbClr val="34E3A8"/>
                </a:solidFill>
                <a:latin typeface="Calibri" pitchFamily="34" charset="0"/>
                <a:ea typeface="Calibri" pitchFamily="34" charset="-122"/>
                <a:cs typeface="Calibri" pitchFamily="34" charset="-120"/>
              </a:rPr>
              <a:t>missing</a:t>
            </a:r>
            <a:endParaRPr lang="en-US" sz="1050" dirty="0"/>
          </a:p>
        </p:txBody>
      </p:sp>
      <p:sp>
        <p:nvSpPr>
          <p:cNvPr id="15" name="Shape 13"/>
          <p:cNvSpPr/>
          <p:nvPr/>
        </p:nvSpPr>
        <p:spPr>
          <a:xfrm>
            <a:off x="5943600" y="2157984"/>
            <a:ext cx="2743200" cy="530352"/>
          </a:xfrm>
          <a:prstGeom prst="roundRect">
            <a:avLst>
              <a:gd name="adj" fmla="val 17241"/>
            </a:avLst>
          </a:prstGeom>
          <a:solidFill>
            <a:srgbClr val="1A2550">
              <a:alpha val="70000"/>
            </a:srgbClr>
          </a:solidFill>
          <a:ln w="12700">
            <a:solidFill>
              <a:srgbClr val="2E4A8A"/>
            </a:solidFill>
            <a:prstDash val="solid"/>
          </a:ln>
        </p:spPr>
      </p:sp>
      <p:sp>
        <p:nvSpPr>
          <p:cNvPr id="16" name="Text 14"/>
          <p:cNvSpPr txBox="1"/>
          <p:nvPr/>
        </p:nvSpPr>
        <p:spPr>
          <a:xfrm>
            <a:off x="6053328" y="2212848"/>
            <a:ext cx="2523744" cy="182880"/>
          </a:xfrm>
          <a:prstGeom prst="rect">
            <a:avLst/>
          </a:prstGeom>
          <a:noFill/>
          <a:ln/>
        </p:spPr>
        <p:txBody>
          <a:bodyPr wrap="square" lIns="0" tIns="0" rIns="0" bIns="0" rtlCol="0" anchor="ctr"/>
          <a:lstStyle/>
          <a:p>
            <a:pPr indent="0" marL="0">
              <a:buNone/>
            </a:pPr>
            <a:r>
              <a:rPr lang="en-US" sz="850" dirty="0">
                <a:solidFill>
                  <a:srgbClr val="A9BCE0"/>
                </a:solidFill>
                <a:latin typeface="Calibri" pitchFamily="34" charset="0"/>
                <a:ea typeface="Calibri" pitchFamily="34" charset="-122"/>
                <a:cs typeface="Calibri" pitchFamily="34" charset="-120"/>
              </a:rPr>
              <a:t>The Moonstone — year</a:t>
            </a:r>
            <a:endParaRPr lang="en-US" sz="850" dirty="0"/>
          </a:p>
        </p:txBody>
      </p:sp>
      <p:sp>
        <p:nvSpPr>
          <p:cNvPr id="17" name="Text 15"/>
          <p:cNvSpPr txBox="1"/>
          <p:nvPr/>
        </p:nvSpPr>
        <p:spPr>
          <a:xfrm>
            <a:off x="6053328" y="2414016"/>
            <a:ext cx="2523744" cy="256032"/>
          </a:xfrm>
          <a:prstGeom prst="rect">
            <a:avLst/>
          </a:prstGeom>
          <a:noFill/>
          <a:ln/>
        </p:spPr>
        <p:txBody>
          <a:bodyPr wrap="square" lIns="0" tIns="0" rIns="0" bIns="0" rtlCol="0" anchor="ctr">
            <a:normAutofit/>
          </a:bodyPr>
          <a:lstStyle/>
          <a:p>
            <a:pPr indent="0" marL="0">
              <a:buNone/>
            </a:pPr>
            <a:r>
              <a:rPr lang="en-US" sz="1050" dirty="0">
                <a:solidFill>
                  <a:srgbClr val="FF6B93"/>
                </a:solidFill>
                <a:latin typeface="Calibri" pitchFamily="34" charset="0"/>
                <a:ea typeface="Calibri" pitchFamily="34" charset="-122"/>
                <a:cs typeface="Calibri" pitchFamily="34" charset="-120"/>
              </a:rPr>
              <a:t>1800 (placeholder)</a:t>
            </a:r>
            <a:pPr indent="0" marL="0">
              <a:buNone/>
            </a:pPr>
            <a:r>
              <a:rPr lang="en-US" sz="1050" dirty="0">
                <a:solidFill>
                  <a:srgbClr val="A9BCE0"/>
                </a:solidFill>
                <a:latin typeface="Calibri" pitchFamily="34" charset="0"/>
                <a:ea typeface="Calibri" pitchFamily="34" charset="-122"/>
                <a:cs typeface="Calibri" pitchFamily="34" charset="-120"/>
              </a:rPr>
              <a:t>   →   </a:t>
            </a:r>
            <a:pPr indent="0" marL="0">
              <a:buNone/>
            </a:pPr>
            <a:r>
              <a:rPr lang="en-US" sz="1050" b="1" dirty="0">
                <a:solidFill>
                  <a:srgbClr val="34E3A8"/>
                </a:solidFill>
                <a:latin typeface="Calibri" pitchFamily="34" charset="0"/>
                <a:ea typeface="Calibri" pitchFamily="34" charset="-122"/>
                <a:cs typeface="Calibri" pitchFamily="34" charset="-120"/>
              </a:rPr>
              <a:t>missing</a:t>
            </a:r>
            <a:endParaRPr lang="en-US" sz="1050" dirty="0"/>
          </a:p>
        </p:txBody>
      </p:sp>
      <p:sp>
        <p:nvSpPr>
          <p:cNvPr id="18" name="Shape 16"/>
          <p:cNvSpPr/>
          <p:nvPr/>
        </p:nvSpPr>
        <p:spPr>
          <a:xfrm>
            <a:off x="5943600" y="2761488"/>
            <a:ext cx="2743200" cy="530352"/>
          </a:xfrm>
          <a:prstGeom prst="roundRect">
            <a:avLst>
              <a:gd name="adj" fmla="val 17241"/>
            </a:avLst>
          </a:prstGeom>
          <a:solidFill>
            <a:srgbClr val="1A2550">
              <a:alpha val="70000"/>
            </a:srgbClr>
          </a:solidFill>
          <a:ln w="12700">
            <a:solidFill>
              <a:srgbClr val="2E4A8A"/>
            </a:solidFill>
            <a:prstDash val="solid"/>
          </a:ln>
        </p:spPr>
      </p:sp>
      <p:sp>
        <p:nvSpPr>
          <p:cNvPr id="19" name="Text 17"/>
          <p:cNvSpPr txBox="1"/>
          <p:nvPr/>
        </p:nvSpPr>
        <p:spPr>
          <a:xfrm>
            <a:off x="6053328" y="2816352"/>
            <a:ext cx="2523744" cy="182880"/>
          </a:xfrm>
          <a:prstGeom prst="rect">
            <a:avLst/>
          </a:prstGeom>
          <a:noFill/>
          <a:ln/>
        </p:spPr>
        <p:txBody>
          <a:bodyPr wrap="square" lIns="0" tIns="0" rIns="0" bIns="0" rtlCol="0" anchor="ctr"/>
          <a:lstStyle/>
          <a:p>
            <a:pPr indent="0" marL="0">
              <a:buNone/>
            </a:pPr>
            <a:r>
              <a:rPr lang="en-US" sz="850" dirty="0">
                <a:solidFill>
                  <a:srgbClr val="A9BCE0"/>
                </a:solidFill>
                <a:latin typeface="Calibri" pitchFamily="34" charset="0"/>
                <a:ea typeface="Calibri" pitchFamily="34" charset="-122"/>
                <a:cs typeface="Calibri" pitchFamily="34" charset="-120"/>
              </a:rPr>
              <a:t>Americanah — author born 1977</a:t>
            </a:r>
            <a:endParaRPr lang="en-US" sz="850" dirty="0"/>
          </a:p>
        </p:txBody>
      </p:sp>
      <p:sp>
        <p:nvSpPr>
          <p:cNvPr id="20" name="Text 18"/>
          <p:cNvSpPr txBox="1"/>
          <p:nvPr/>
        </p:nvSpPr>
        <p:spPr>
          <a:xfrm>
            <a:off x="6053328" y="3017520"/>
            <a:ext cx="2523744" cy="256032"/>
          </a:xfrm>
          <a:prstGeom prst="rect">
            <a:avLst/>
          </a:prstGeom>
          <a:noFill/>
          <a:ln/>
        </p:spPr>
        <p:txBody>
          <a:bodyPr wrap="square" lIns="0" tIns="0" rIns="0" bIns="0" rtlCol="0" anchor="ctr">
            <a:normAutofit/>
          </a:bodyPr>
          <a:lstStyle/>
          <a:p>
            <a:pPr indent="0" marL="0">
              <a:buNone/>
            </a:pPr>
            <a:r>
              <a:rPr lang="en-US" sz="1050" dirty="0">
                <a:solidFill>
                  <a:srgbClr val="FF6B93"/>
                </a:solidFill>
                <a:latin typeface="Calibri" pitchFamily="34" charset="0"/>
                <a:ea typeface="Calibri" pitchFamily="34" charset="-122"/>
                <a:cs typeface="Calibri" pitchFamily="34" charset="-120"/>
              </a:rPr>
              <a:t>published 1969</a:t>
            </a:r>
            <a:pPr indent="0" marL="0">
              <a:buNone/>
            </a:pPr>
            <a:r>
              <a:rPr lang="en-US" sz="1050" dirty="0">
                <a:solidFill>
                  <a:srgbClr val="A9BCE0"/>
                </a:solidFill>
                <a:latin typeface="Calibri" pitchFamily="34" charset="0"/>
                <a:ea typeface="Calibri" pitchFamily="34" charset="-122"/>
                <a:cs typeface="Calibri" pitchFamily="34" charset="-120"/>
              </a:rPr>
              <a:t>   →   </a:t>
            </a:r>
            <a:pPr indent="0" marL="0">
              <a:buNone/>
            </a:pPr>
            <a:r>
              <a:rPr lang="en-US" sz="1050" b="1" dirty="0">
                <a:solidFill>
                  <a:srgbClr val="34E3A8"/>
                </a:solidFill>
                <a:latin typeface="Calibri" pitchFamily="34" charset="0"/>
                <a:ea typeface="Calibri" pitchFamily="34" charset="-122"/>
                <a:cs typeface="Calibri" pitchFamily="34" charset="-120"/>
              </a:rPr>
              <a:t>missing</a:t>
            </a:r>
            <a:endParaRPr lang="en-US" sz="1050" dirty="0"/>
          </a:p>
        </p:txBody>
      </p:sp>
      <p:sp>
        <p:nvSpPr>
          <p:cNvPr id="21" name="Shape 19"/>
          <p:cNvSpPr/>
          <p:nvPr/>
        </p:nvSpPr>
        <p:spPr>
          <a:xfrm>
            <a:off x="5943600" y="3364992"/>
            <a:ext cx="2743200" cy="530352"/>
          </a:xfrm>
          <a:prstGeom prst="roundRect">
            <a:avLst>
              <a:gd name="adj" fmla="val 17241"/>
            </a:avLst>
          </a:prstGeom>
          <a:solidFill>
            <a:srgbClr val="1A2550">
              <a:alpha val="70000"/>
            </a:srgbClr>
          </a:solidFill>
          <a:ln w="12700">
            <a:solidFill>
              <a:srgbClr val="2E4A8A"/>
            </a:solidFill>
            <a:prstDash val="solid"/>
          </a:ln>
        </p:spPr>
      </p:sp>
      <p:sp>
        <p:nvSpPr>
          <p:cNvPr id="22" name="Text 20"/>
          <p:cNvSpPr txBox="1"/>
          <p:nvPr/>
        </p:nvSpPr>
        <p:spPr>
          <a:xfrm>
            <a:off x="6053328" y="3419856"/>
            <a:ext cx="2523744" cy="182880"/>
          </a:xfrm>
          <a:prstGeom prst="rect">
            <a:avLst/>
          </a:prstGeom>
          <a:noFill/>
          <a:ln/>
        </p:spPr>
        <p:txBody>
          <a:bodyPr wrap="square" lIns="0" tIns="0" rIns="0" bIns="0" rtlCol="0" anchor="ctr"/>
          <a:lstStyle/>
          <a:p>
            <a:pPr indent="0" marL="0">
              <a:buNone/>
            </a:pPr>
            <a:r>
              <a:rPr lang="en-US" sz="850" dirty="0">
                <a:solidFill>
                  <a:srgbClr val="A9BCE0"/>
                </a:solidFill>
                <a:latin typeface="Calibri" pitchFamily="34" charset="0"/>
                <a:ea typeface="Calibri" pitchFamily="34" charset="-122"/>
                <a:cs typeface="Calibri" pitchFamily="34" charset="-120"/>
              </a:rPr>
              <a:t>Dumb Witness — pages</a:t>
            </a:r>
            <a:endParaRPr lang="en-US" sz="850" dirty="0"/>
          </a:p>
        </p:txBody>
      </p:sp>
      <p:sp>
        <p:nvSpPr>
          <p:cNvPr id="23" name="Text 21"/>
          <p:cNvSpPr txBox="1"/>
          <p:nvPr/>
        </p:nvSpPr>
        <p:spPr>
          <a:xfrm>
            <a:off x="6053328" y="3621024"/>
            <a:ext cx="2523744" cy="256032"/>
          </a:xfrm>
          <a:prstGeom prst="rect">
            <a:avLst/>
          </a:prstGeom>
          <a:noFill/>
          <a:ln/>
        </p:spPr>
        <p:txBody>
          <a:bodyPr wrap="square" lIns="0" tIns="0" rIns="0" bIns="0" rtlCol="0" anchor="ctr">
            <a:normAutofit/>
          </a:bodyPr>
          <a:lstStyle/>
          <a:p>
            <a:pPr indent="0" marL="0">
              <a:buNone/>
            </a:pPr>
            <a:r>
              <a:rPr lang="en-US" sz="1050" dirty="0">
                <a:solidFill>
                  <a:srgbClr val="FF6B93"/>
                </a:solidFill>
                <a:latin typeface="Calibri" pitchFamily="34" charset="0"/>
                <a:ea typeface="Calibri" pitchFamily="34" charset="-122"/>
                <a:cs typeface="Calibri" pitchFamily="34" charset="-120"/>
              </a:rPr>
              <a:t>1</a:t>
            </a:r>
            <a:pPr indent="0" marL="0">
              <a:buNone/>
            </a:pPr>
            <a:r>
              <a:rPr lang="en-US" sz="1050" dirty="0">
                <a:solidFill>
                  <a:srgbClr val="A9BCE0"/>
                </a:solidFill>
                <a:latin typeface="Calibri" pitchFamily="34" charset="0"/>
                <a:ea typeface="Calibri" pitchFamily="34" charset="-122"/>
                <a:cs typeface="Calibri" pitchFamily="34" charset="-120"/>
              </a:rPr>
              <a:t>   →   </a:t>
            </a:r>
            <a:pPr indent="0" marL="0">
              <a:buNone/>
            </a:pPr>
            <a:r>
              <a:rPr lang="en-US" sz="1050" b="1" dirty="0">
                <a:solidFill>
                  <a:srgbClr val="34E3A8"/>
                </a:solidFill>
                <a:latin typeface="Calibri" pitchFamily="34" charset="0"/>
                <a:ea typeface="Calibri" pitchFamily="34" charset="-122"/>
                <a:cs typeface="Calibri" pitchFamily="34" charset="-120"/>
              </a:rPr>
              <a:t>missing</a:t>
            </a:r>
            <a:endParaRPr lang="en-US" sz="1050" dirty="0"/>
          </a:p>
        </p:txBody>
      </p:sp>
      <p:sp>
        <p:nvSpPr>
          <p:cNvPr id="24" name="Shape 22"/>
          <p:cNvSpPr/>
          <p:nvPr/>
        </p:nvSpPr>
        <p:spPr>
          <a:xfrm>
            <a:off x="5943600" y="3968496"/>
            <a:ext cx="2743200" cy="530352"/>
          </a:xfrm>
          <a:prstGeom prst="roundRect">
            <a:avLst>
              <a:gd name="adj" fmla="val 17241"/>
            </a:avLst>
          </a:prstGeom>
          <a:solidFill>
            <a:srgbClr val="1A2550">
              <a:alpha val="70000"/>
            </a:srgbClr>
          </a:solidFill>
          <a:ln w="12700">
            <a:solidFill>
              <a:srgbClr val="2E4A8A"/>
            </a:solidFill>
            <a:prstDash val="solid"/>
          </a:ln>
        </p:spPr>
      </p:sp>
      <p:sp>
        <p:nvSpPr>
          <p:cNvPr id="25" name="Text 23"/>
          <p:cNvSpPr txBox="1"/>
          <p:nvPr/>
        </p:nvSpPr>
        <p:spPr>
          <a:xfrm>
            <a:off x="6053328" y="4023360"/>
            <a:ext cx="2523744" cy="182880"/>
          </a:xfrm>
          <a:prstGeom prst="rect">
            <a:avLst/>
          </a:prstGeom>
          <a:noFill/>
          <a:ln/>
        </p:spPr>
        <p:txBody>
          <a:bodyPr wrap="square" lIns="0" tIns="0" rIns="0" bIns="0" rtlCol="0" anchor="ctr"/>
          <a:lstStyle/>
          <a:p>
            <a:pPr indent="0" marL="0">
              <a:buNone/>
            </a:pPr>
            <a:r>
              <a:rPr lang="en-US" sz="850" dirty="0">
                <a:solidFill>
                  <a:srgbClr val="A9BCE0"/>
                </a:solidFill>
                <a:latin typeface="Calibri" pitchFamily="34" charset="0"/>
                <a:ea typeface="Calibri" pitchFamily="34" charset="-122"/>
                <a:cs typeface="Calibri" pitchFamily="34" charset="-120"/>
              </a:rPr>
              <a:t>Pride and Prejudice</a:t>
            </a:r>
            <a:endParaRPr lang="en-US" sz="850" dirty="0"/>
          </a:p>
        </p:txBody>
      </p:sp>
      <p:sp>
        <p:nvSpPr>
          <p:cNvPr id="26" name="Text 24"/>
          <p:cNvSpPr txBox="1"/>
          <p:nvPr/>
        </p:nvSpPr>
        <p:spPr>
          <a:xfrm>
            <a:off x="6053328" y="4224528"/>
            <a:ext cx="2523744" cy="256032"/>
          </a:xfrm>
          <a:prstGeom prst="rect">
            <a:avLst/>
          </a:prstGeom>
          <a:noFill/>
          <a:ln/>
        </p:spPr>
        <p:txBody>
          <a:bodyPr wrap="square" lIns="0" tIns="0" rIns="0" bIns="0" rtlCol="0" anchor="ctr">
            <a:normAutofit/>
          </a:bodyPr>
          <a:lstStyle/>
          <a:p>
            <a:pPr indent="0" marL="0">
              <a:buNone/>
            </a:pPr>
            <a:r>
              <a:rPr lang="en-US" sz="1050" dirty="0">
                <a:solidFill>
                  <a:srgbClr val="FF6B93"/>
                </a:solidFill>
                <a:latin typeface="Calibri" pitchFamily="34" charset="0"/>
                <a:ea typeface="Calibri" pitchFamily="34" charset="-122"/>
                <a:cs typeface="Calibri" pitchFamily="34" charset="-120"/>
              </a:rPr>
              <a:t>2 rows</a:t>
            </a:r>
            <a:pPr indent="0" marL="0">
              <a:buNone/>
            </a:pPr>
            <a:r>
              <a:rPr lang="en-US" sz="1050" dirty="0">
                <a:solidFill>
                  <a:srgbClr val="A9BCE0"/>
                </a:solidFill>
                <a:latin typeface="Calibri" pitchFamily="34" charset="0"/>
                <a:ea typeface="Calibri" pitchFamily="34" charset="-122"/>
                <a:cs typeface="Calibri" pitchFamily="34" charset="-120"/>
              </a:rPr>
              <a:t>   →   </a:t>
            </a:r>
            <a:pPr indent="0" marL="0">
              <a:buNone/>
            </a:pPr>
            <a:r>
              <a:rPr lang="en-US" sz="1050" b="1" dirty="0">
                <a:solidFill>
                  <a:srgbClr val="34E3A8"/>
                </a:solidFill>
                <a:latin typeface="Calibri" pitchFamily="34" charset="0"/>
                <a:ea typeface="Calibri" pitchFamily="34" charset="-122"/>
                <a:cs typeface="Calibri" pitchFamily="34" charset="-120"/>
              </a:rPr>
              <a:t>1 row, 2 genres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56032"/>
          </a:xfrm>
          <a:prstGeom prst="rect">
            <a:avLst/>
          </a:prstGeom>
          <a:noFill/>
          <a:ln/>
        </p:spPr>
        <p:txBody>
          <a:bodyPr wrap="square" lIns="0" tIns="0" rIns="0" bIns="0" rtlCol="0" anchor="ctr"/>
          <a:lstStyle/>
          <a:p>
            <a:pPr indent="0" marL="0">
              <a:buNone/>
            </a:pPr>
            <a:r>
              <a:rPr lang="en-US" sz="1000" b="1" spc="400" kern="0" dirty="0">
                <a:solidFill>
                  <a:srgbClr val="00D4FF"/>
                </a:solidFill>
                <a:latin typeface="Calibri" pitchFamily="34" charset="0"/>
                <a:ea typeface="Calibri" pitchFamily="34" charset="-122"/>
                <a:cs typeface="Calibri" pitchFamily="34" charset="-120"/>
              </a:rPr>
              <a:t>DATA WRANGLING  •  STEP 3</a:t>
            </a:r>
            <a:endParaRPr lang="en-US" sz="1000" dirty="0"/>
          </a:p>
        </p:txBody>
      </p:sp>
      <p:sp>
        <p:nvSpPr>
          <p:cNvPr id="3" name="Text 1"/>
          <p:cNvSpPr txBox="1"/>
          <p:nvPr/>
        </p:nvSpPr>
        <p:spPr>
          <a:xfrm>
            <a:off x="457200" y="530352"/>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Handle Missing Values &amp; Create New Features</a:t>
            </a:r>
            <a:endParaRPr lang="en-US" sz="26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A9BCE0"/>
                </a:solidFill>
                <a:latin typeface="Calibri" pitchFamily="34" charset="0"/>
                <a:ea typeface="Calibri" pitchFamily="34" charset="-122"/>
                <a:cs typeface="Calibri" pitchFamily="34" charset="-120"/>
              </a:rPr>
              <a:t>08 / 12</a:t>
            </a:r>
            <a:endParaRPr lang="en-US" sz="900" dirty="0"/>
          </a:p>
        </p:txBody>
      </p:sp>
      <p:sp>
        <p:nvSpPr>
          <p:cNvPr id="5" name="Shape 3"/>
          <p:cNvSpPr/>
          <p:nvPr/>
        </p:nvSpPr>
        <p:spPr>
          <a:xfrm>
            <a:off x="457200" y="1234440"/>
            <a:ext cx="5257800" cy="3383280"/>
          </a:xfrm>
          <a:prstGeom prst="roundRect">
            <a:avLst>
              <a:gd name="adj" fmla="val 2162"/>
            </a:avLst>
          </a:prstGeom>
          <a:solidFill>
            <a:srgbClr val="070C22">
              <a:alpha val="92000"/>
            </a:srgbClr>
          </a:solidFill>
          <a:ln w="12700">
            <a:solidFill>
              <a:srgbClr val="2E4A8A"/>
            </a:solidFill>
            <a:prstDash val="solid"/>
          </a:ln>
        </p:spPr>
      </p:sp>
      <p:sp>
        <p:nvSpPr>
          <p:cNvPr id="6" name="Shape 4"/>
          <p:cNvSpPr/>
          <p:nvPr/>
        </p:nvSpPr>
        <p:spPr>
          <a:xfrm>
            <a:off x="594360" y="1344168"/>
            <a:ext cx="82296" cy="82296"/>
          </a:xfrm>
          <a:prstGeom prst="ellipse">
            <a:avLst/>
          </a:prstGeom>
          <a:solidFill>
            <a:srgbClr val="FF5F57"/>
          </a:solidFill>
          <a:ln w="12700">
            <a:solidFill>
              <a:srgbClr val="FF5F57"/>
            </a:solidFill>
            <a:prstDash val="solid"/>
          </a:ln>
        </p:spPr>
      </p:sp>
      <p:sp>
        <p:nvSpPr>
          <p:cNvPr id="7" name="Shape 5"/>
          <p:cNvSpPr/>
          <p:nvPr/>
        </p:nvSpPr>
        <p:spPr>
          <a:xfrm>
            <a:off x="731520" y="1344168"/>
            <a:ext cx="82296" cy="82296"/>
          </a:xfrm>
          <a:prstGeom prst="ellipse">
            <a:avLst/>
          </a:prstGeom>
          <a:solidFill>
            <a:srgbClr val="FEBC2E"/>
          </a:solidFill>
          <a:ln w="12700">
            <a:solidFill>
              <a:srgbClr val="FEBC2E"/>
            </a:solidFill>
            <a:prstDash val="solid"/>
          </a:ln>
        </p:spPr>
      </p:sp>
      <p:sp>
        <p:nvSpPr>
          <p:cNvPr id="8" name="Shape 6"/>
          <p:cNvSpPr/>
          <p:nvPr/>
        </p:nvSpPr>
        <p:spPr>
          <a:xfrm>
            <a:off x="868680" y="1344168"/>
            <a:ext cx="82296" cy="82296"/>
          </a:xfrm>
          <a:prstGeom prst="ellipse">
            <a:avLst/>
          </a:prstGeom>
          <a:solidFill>
            <a:srgbClr val="28C840"/>
          </a:solidFill>
          <a:ln w="12700">
            <a:solidFill>
              <a:srgbClr val="28C840"/>
            </a:solidFill>
            <a:prstDash val="solid"/>
          </a:ln>
        </p:spPr>
      </p:sp>
      <p:sp>
        <p:nvSpPr>
          <p:cNvPr id="9" name="Text 7"/>
          <p:cNvSpPr txBox="1"/>
          <p:nvPr/>
        </p:nvSpPr>
        <p:spPr>
          <a:xfrm>
            <a:off x="1051560" y="1289304"/>
            <a:ext cx="4526280" cy="182880"/>
          </a:xfrm>
          <a:prstGeom prst="rect">
            <a:avLst/>
          </a:prstGeom>
          <a:noFill/>
          <a:ln/>
        </p:spPr>
        <p:txBody>
          <a:bodyPr wrap="square" lIns="0" tIns="0" rIns="0" bIns="0" rtlCol="0" anchor="ctr"/>
          <a:lstStyle/>
          <a:p>
            <a:pPr indent="0" marL="0">
              <a:buNone/>
            </a:pPr>
            <a:r>
              <a:rPr lang="en-US" sz="800" dirty="0">
                <a:solidFill>
                  <a:srgbClr val="A9BCE0"/>
                </a:solidFill>
                <a:latin typeface="Courier New" pitchFamily="34" charset="0"/>
                <a:ea typeface="Courier New" pitchFamily="34" charset="-122"/>
                <a:cs typeface="Courier New" pitchFamily="34" charset="-120"/>
              </a:rPr>
              <a:t>book_data_wrangling.py</a:t>
            </a:r>
            <a:endParaRPr lang="en-US" sz="800" dirty="0"/>
          </a:p>
        </p:txBody>
      </p:sp>
      <p:sp>
        <p:nvSpPr>
          <p:cNvPr id="10" name="Text 8"/>
          <p:cNvSpPr txBox="1"/>
          <p:nvPr/>
        </p:nvSpPr>
        <p:spPr>
          <a:xfrm>
            <a:off x="621792" y="1563624"/>
            <a:ext cx="4983480" cy="2962656"/>
          </a:xfrm>
          <a:prstGeom prst="rect">
            <a:avLst/>
          </a:prstGeom>
          <a:noFill/>
          <a:ln/>
        </p:spPr>
        <p:txBody>
          <a:bodyPr wrap="square" lIns="0" tIns="0" rIns="0" bIns="0" rtlCol="0" anchor="t"/>
          <a:lstStyle/>
          <a:p>
            <a:pPr indent="0" marL="0">
              <a:lnSpc>
                <a:spcPct val="100000"/>
              </a:lnSpc>
              <a:buNone/>
            </a:pPr>
            <a:r>
              <a:rPr lang="en-US" sz="900" i="1" dirty="0">
                <a:solidFill>
                  <a:srgbClr val="6A8BAF"/>
                </a:solidFill>
                <a:latin typeface="Courier New" pitchFamily="34" charset="0"/>
                <a:ea typeface="Courier New" pitchFamily="34" charset="-122"/>
                <a:cs typeface="Courier New" pitchFamily="34" charset="-120"/>
              </a:rPr>
              <a:t># Flag incomplete rows instead of inventing data</a:t>
            </a:r>
            <a:endParaRPr lang="en-US" sz="900" dirty="0"/>
          </a:p>
          <a:p>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"Is_Enriched"</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"Want_To_Read_Count"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notna</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endParaRPr lang="en-US" sz="900" dirty="0"/>
          </a:p>
          <a:p>
            <a:pPr indent="0" marL="0">
              <a:lnSpc>
                <a:spcPct val="100000"/>
              </a:lnSpc>
              <a:buNone/>
            </a:pPr>
            <a:r>
              <a:rPr lang="en-US" sz="900" i="1" dirty="0">
                <a:solidFill>
                  <a:srgbClr val="6A8BAF"/>
                </a:solidFill>
                <a:latin typeface="Courier New" pitchFamily="34" charset="0"/>
                <a:ea typeface="Courier New" pitchFamily="34" charset="-122"/>
                <a:cs typeface="Courier New" pitchFamily="34" charset="-120"/>
              </a:rPr>
              <a:t># Fill page count with the genre median, and flag it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med</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groupby</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"Genre"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"Page_Count"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median</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mask</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"Page_Count"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isna</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&amp;</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"Is_Enriched"</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loc</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mask</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"Page_Count"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loc</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mask</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"Genre"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map</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med</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"Page_Count_Imputed"</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mask</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endParaRPr lang="en-US" sz="900" dirty="0"/>
          </a:p>
          <a:p>
            <a:pPr indent="0" marL="0">
              <a:lnSpc>
                <a:spcPct val="100000"/>
              </a:lnSpc>
              <a:buNone/>
            </a:pPr>
            <a:r>
              <a:rPr lang="en-US" sz="900" i="1" dirty="0">
                <a:solidFill>
                  <a:srgbClr val="6A8BAF"/>
                </a:solidFill>
                <a:latin typeface="Courier New" pitchFamily="34" charset="0"/>
                <a:ea typeface="Courier New" pitchFamily="34" charset="-122"/>
                <a:cs typeface="Courier New" pitchFamily="34" charset="-120"/>
              </a:rPr>
              <a:t># New features for analysis</a:t>
            </a:r>
            <a:endParaRPr lang="en-US" sz="900" dirty="0"/>
          </a:p>
          <a:p>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"Decade"</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"Publish_Year"</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8C9C"/>
                </a:solidFill>
                <a:latin typeface="Courier New" pitchFamily="34" charset="0"/>
                <a:ea typeface="Courier New" pitchFamily="34" charset="-122"/>
                <a:cs typeface="Courier New" pitchFamily="34" charset="-120"/>
              </a:rPr>
              <a:t>10</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8C9C"/>
                </a:solidFill>
                <a:latin typeface="Courier New" pitchFamily="34" charset="0"/>
                <a:ea typeface="Courier New" pitchFamily="34" charset="-122"/>
                <a:cs typeface="Courier New" pitchFamily="34" charset="-120"/>
              </a:rPr>
              <a:t>10</a:t>
            </a:r>
            <a:endParaRPr lang="en-US" sz="900" dirty="0"/>
          </a:p>
          <a:p>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"Total_Readers"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"Want_To_Read_Count"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"Currently_Reading_Count"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"Already_Read_Count"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sum</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axis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=1)</a:t>
            </a:r>
            <a:endParaRPr lang="en-US" sz="900" dirty="0"/>
          </a:p>
          <a:p>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"Length_Category"</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pd</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cut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"Page_Count"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[0,</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8C9C"/>
                </a:solidFill>
                <a:latin typeface="Courier New" pitchFamily="34" charset="0"/>
                <a:ea typeface="Courier New" pitchFamily="34" charset="-122"/>
                <a:cs typeface="Courier New" pitchFamily="34" charset="-120"/>
              </a:rPr>
              <a:t>200,</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8C9C"/>
                </a:solidFill>
                <a:latin typeface="Courier New" pitchFamily="34" charset="0"/>
                <a:ea typeface="Courier New" pitchFamily="34" charset="-122"/>
                <a:cs typeface="Courier New" pitchFamily="34" charset="-120"/>
              </a:rPr>
              <a:t>350,</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8C9C"/>
                </a:solidFill>
                <a:latin typeface="Courier New" pitchFamily="34" charset="0"/>
                <a:ea typeface="Courier New" pitchFamily="34" charset="-122"/>
                <a:cs typeface="Courier New" pitchFamily="34" charset="-120"/>
              </a:rPr>
              <a:t>500,</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7FE3FF"/>
                </a:solidFill>
                <a:latin typeface="Courier New" pitchFamily="34" charset="0"/>
                <a:ea typeface="Courier New" pitchFamily="34" charset="-122"/>
                <a:cs typeface="Courier New" pitchFamily="34" charset="-120"/>
              </a:rPr>
              <a:t>np</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inf</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a:p>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labels</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"Short"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"Medium"</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"Long"</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900" dirty="0">
                <a:solidFill>
                  <a:srgbClr val="F7B267"/>
                </a:solidFill>
                <a:latin typeface="Courier New" pitchFamily="34" charset="0"/>
                <a:ea typeface="Courier New" pitchFamily="34" charset="-122"/>
                <a:cs typeface="Courier New" pitchFamily="34" charset="-120"/>
              </a:rPr>
              <a:t>"Epic"</a:t>
            </a:r>
            <a:pPr indent="0" marL="0">
              <a:lnSpc>
                <a:spcPct val="100000"/>
              </a:lnSpc>
              <a:buNone/>
            </a:pPr>
            <a:r>
              <a:rPr lang="en-US" sz="900" dirty="0">
                <a:solidFill>
                  <a:srgbClr val="E6EDF7"/>
                </a:solidFill>
                <a:latin typeface="Courier New" pitchFamily="34" charset="0"/>
                <a:ea typeface="Courier New" pitchFamily="34" charset="-122"/>
                <a:cs typeface="Courier New" pitchFamily="34" charset="-120"/>
              </a:rPr>
              <a:t>])</a:t>
            </a:r>
            <a:endParaRPr lang="en-US" sz="900" dirty="0"/>
          </a:p>
        </p:txBody>
      </p:sp>
      <p:sp>
        <p:nvSpPr>
          <p:cNvPr id="11" name="Text 9"/>
          <p:cNvSpPr txBox="1"/>
          <p:nvPr/>
        </p:nvSpPr>
        <p:spPr>
          <a:xfrm>
            <a:off x="5943600" y="1234440"/>
            <a:ext cx="2743200" cy="228600"/>
          </a:xfrm>
          <a:prstGeom prst="rect">
            <a:avLst/>
          </a:prstGeom>
          <a:noFill/>
          <a:ln/>
        </p:spPr>
        <p:txBody>
          <a:bodyPr wrap="square" lIns="0" tIns="0" rIns="0" bIns="0" rtlCol="0" anchor="ctr"/>
          <a:lstStyle/>
          <a:p>
            <a:pPr indent="0" marL="0">
              <a:buNone/>
            </a:pPr>
            <a:r>
              <a:rPr lang="en-US" sz="1000" b="1" spc="200" kern="0" dirty="0">
                <a:solidFill>
                  <a:srgbClr val="00D4FF"/>
                </a:solidFill>
                <a:latin typeface="Calibri" pitchFamily="34" charset="0"/>
                <a:ea typeface="Calibri" pitchFamily="34" charset="-122"/>
                <a:cs typeface="Calibri" pitchFamily="34" charset="-120"/>
              </a:rPr>
              <a:t>NEW COLUMNS ADDED</a:t>
            </a:r>
            <a:endParaRPr lang="en-US" sz="1000" dirty="0"/>
          </a:p>
        </p:txBody>
      </p:sp>
      <p:sp>
        <p:nvSpPr>
          <p:cNvPr id="12" name="Shape 10"/>
          <p:cNvSpPr/>
          <p:nvPr/>
        </p:nvSpPr>
        <p:spPr>
          <a:xfrm>
            <a:off x="5943600" y="1554480"/>
            <a:ext cx="1316736" cy="292608"/>
          </a:xfrm>
          <a:prstGeom prst="roundRect">
            <a:avLst>
              <a:gd name="adj" fmla="val 50000"/>
            </a:avLst>
          </a:prstGeom>
          <a:solidFill>
            <a:srgbClr val="0E1A45"/>
          </a:solidFill>
          <a:ln w="9525">
            <a:solidFill>
              <a:srgbClr val="00D4FF"/>
            </a:solidFill>
            <a:prstDash val="solid"/>
          </a:ln>
        </p:spPr>
      </p:sp>
      <p:sp>
        <p:nvSpPr>
          <p:cNvPr id="13" name="Text 11"/>
          <p:cNvSpPr txBox="1"/>
          <p:nvPr/>
        </p:nvSpPr>
        <p:spPr>
          <a:xfrm>
            <a:off x="5943600" y="1554480"/>
            <a:ext cx="1316736" cy="292608"/>
          </a:xfrm>
          <a:prstGeom prst="rect">
            <a:avLst/>
          </a:prstGeom>
          <a:noFill/>
          <a:ln/>
        </p:spPr>
        <p:txBody>
          <a:bodyPr wrap="square" lIns="0" tIns="0" rIns="0" bIns="0" rtlCol="0" anchor="ctr">
            <a:normAutofit/>
          </a:bodyPr>
          <a:lstStyle/>
          <a:p>
            <a:pPr algn="ctr" indent="0" marL="0">
              <a:buNone/>
            </a:pPr>
            <a:r>
              <a:rPr lang="en-US" sz="900" dirty="0">
                <a:solidFill>
                  <a:srgbClr val="FFFFFF"/>
                </a:solidFill>
                <a:latin typeface="Calibri" pitchFamily="34" charset="0"/>
                <a:ea typeface="Calibri" pitchFamily="34" charset="-122"/>
                <a:cs typeface="Calibri" pitchFamily="34" charset="-120"/>
              </a:rPr>
              <a:t>Decade</a:t>
            </a:r>
            <a:endParaRPr lang="en-US" sz="900" dirty="0"/>
          </a:p>
        </p:txBody>
      </p:sp>
      <p:sp>
        <p:nvSpPr>
          <p:cNvPr id="14" name="Shape 12"/>
          <p:cNvSpPr/>
          <p:nvPr/>
        </p:nvSpPr>
        <p:spPr>
          <a:xfrm>
            <a:off x="7333488" y="1554480"/>
            <a:ext cx="1316736" cy="292608"/>
          </a:xfrm>
          <a:prstGeom prst="roundRect">
            <a:avLst>
              <a:gd name="adj" fmla="val 50000"/>
            </a:avLst>
          </a:prstGeom>
          <a:solidFill>
            <a:srgbClr val="0E1A45"/>
          </a:solidFill>
          <a:ln w="9525">
            <a:solidFill>
              <a:srgbClr val="00D4FF"/>
            </a:solidFill>
            <a:prstDash val="solid"/>
          </a:ln>
        </p:spPr>
      </p:sp>
      <p:sp>
        <p:nvSpPr>
          <p:cNvPr id="15" name="Text 13"/>
          <p:cNvSpPr txBox="1"/>
          <p:nvPr/>
        </p:nvSpPr>
        <p:spPr>
          <a:xfrm>
            <a:off x="7333488" y="1554480"/>
            <a:ext cx="1316736" cy="292608"/>
          </a:xfrm>
          <a:prstGeom prst="rect">
            <a:avLst/>
          </a:prstGeom>
          <a:noFill/>
          <a:ln/>
        </p:spPr>
        <p:txBody>
          <a:bodyPr wrap="square" lIns="0" tIns="0" rIns="0" bIns="0" rtlCol="0" anchor="ctr">
            <a:normAutofit/>
          </a:bodyPr>
          <a:lstStyle/>
          <a:p>
            <a:pPr algn="ctr" indent="0" marL="0">
              <a:buNone/>
            </a:pPr>
            <a:r>
              <a:rPr lang="en-US" sz="900" dirty="0">
                <a:solidFill>
                  <a:srgbClr val="FFFFFF"/>
                </a:solidFill>
                <a:latin typeface="Calibri" pitchFamily="34" charset="0"/>
                <a:ea typeface="Calibri" pitchFamily="34" charset="-122"/>
                <a:cs typeface="Calibri" pitchFamily="34" charset="-120"/>
              </a:rPr>
              <a:t>Era</a:t>
            </a:r>
            <a:endParaRPr lang="en-US" sz="900" dirty="0"/>
          </a:p>
        </p:txBody>
      </p:sp>
      <p:sp>
        <p:nvSpPr>
          <p:cNvPr id="16" name="Shape 14"/>
          <p:cNvSpPr/>
          <p:nvPr/>
        </p:nvSpPr>
        <p:spPr>
          <a:xfrm>
            <a:off x="5943600" y="1938528"/>
            <a:ext cx="1316736" cy="292608"/>
          </a:xfrm>
          <a:prstGeom prst="roundRect">
            <a:avLst>
              <a:gd name="adj" fmla="val 50000"/>
            </a:avLst>
          </a:prstGeom>
          <a:solidFill>
            <a:srgbClr val="0E1A45"/>
          </a:solidFill>
          <a:ln w="9525">
            <a:solidFill>
              <a:srgbClr val="00D4FF"/>
            </a:solidFill>
            <a:prstDash val="solid"/>
          </a:ln>
        </p:spPr>
      </p:sp>
      <p:sp>
        <p:nvSpPr>
          <p:cNvPr id="17" name="Text 15"/>
          <p:cNvSpPr txBox="1"/>
          <p:nvPr/>
        </p:nvSpPr>
        <p:spPr>
          <a:xfrm>
            <a:off x="5943600" y="1938528"/>
            <a:ext cx="1316736" cy="292608"/>
          </a:xfrm>
          <a:prstGeom prst="rect">
            <a:avLst/>
          </a:prstGeom>
          <a:noFill/>
          <a:ln/>
        </p:spPr>
        <p:txBody>
          <a:bodyPr wrap="square" lIns="0" tIns="0" rIns="0" bIns="0" rtlCol="0" anchor="ctr">
            <a:normAutofit/>
          </a:bodyPr>
          <a:lstStyle/>
          <a:p>
            <a:pPr algn="ctr" indent="0" marL="0">
              <a:buNone/>
            </a:pPr>
            <a:r>
              <a:rPr lang="en-US" sz="900" dirty="0">
                <a:solidFill>
                  <a:srgbClr val="FFFFFF"/>
                </a:solidFill>
                <a:latin typeface="Calibri" pitchFamily="34" charset="0"/>
                <a:ea typeface="Calibri" pitchFamily="34" charset="-122"/>
                <a:cs typeface="Calibri" pitchFamily="34" charset="-120"/>
              </a:rPr>
              <a:t>Book_Age</a:t>
            </a:r>
            <a:endParaRPr lang="en-US" sz="900" dirty="0"/>
          </a:p>
        </p:txBody>
      </p:sp>
      <p:sp>
        <p:nvSpPr>
          <p:cNvPr id="18" name="Shape 16"/>
          <p:cNvSpPr/>
          <p:nvPr/>
        </p:nvSpPr>
        <p:spPr>
          <a:xfrm>
            <a:off x="7333488" y="1938528"/>
            <a:ext cx="1316736" cy="292608"/>
          </a:xfrm>
          <a:prstGeom prst="roundRect">
            <a:avLst>
              <a:gd name="adj" fmla="val 50000"/>
            </a:avLst>
          </a:prstGeom>
          <a:solidFill>
            <a:srgbClr val="0E1A45"/>
          </a:solidFill>
          <a:ln w="9525">
            <a:solidFill>
              <a:srgbClr val="00D4FF"/>
            </a:solidFill>
            <a:prstDash val="solid"/>
          </a:ln>
        </p:spPr>
      </p:sp>
      <p:sp>
        <p:nvSpPr>
          <p:cNvPr id="19" name="Text 17"/>
          <p:cNvSpPr txBox="1"/>
          <p:nvPr/>
        </p:nvSpPr>
        <p:spPr>
          <a:xfrm>
            <a:off x="7333488" y="1938528"/>
            <a:ext cx="1316736" cy="292608"/>
          </a:xfrm>
          <a:prstGeom prst="rect">
            <a:avLst/>
          </a:prstGeom>
          <a:noFill/>
          <a:ln/>
        </p:spPr>
        <p:txBody>
          <a:bodyPr wrap="square" lIns="0" tIns="0" rIns="0" bIns="0" rtlCol="0" anchor="ctr">
            <a:normAutofit/>
          </a:bodyPr>
          <a:lstStyle/>
          <a:p>
            <a:pPr algn="ctr" indent="0" marL="0">
              <a:buNone/>
            </a:pPr>
            <a:r>
              <a:rPr lang="en-US" sz="900" dirty="0">
                <a:solidFill>
                  <a:srgbClr val="FFFFFF"/>
                </a:solidFill>
                <a:latin typeface="Calibri" pitchFamily="34" charset="0"/>
                <a:ea typeface="Calibri" pitchFamily="34" charset="-122"/>
                <a:cs typeface="Calibri" pitchFamily="34" charset="-120"/>
              </a:rPr>
              <a:t>Total_Readers</a:t>
            </a:r>
            <a:endParaRPr lang="en-US" sz="900" dirty="0"/>
          </a:p>
        </p:txBody>
      </p:sp>
      <p:sp>
        <p:nvSpPr>
          <p:cNvPr id="20" name="Shape 18"/>
          <p:cNvSpPr/>
          <p:nvPr/>
        </p:nvSpPr>
        <p:spPr>
          <a:xfrm>
            <a:off x="5943600" y="2322576"/>
            <a:ext cx="1316736" cy="292608"/>
          </a:xfrm>
          <a:prstGeom prst="roundRect">
            <a:avLst>
              <a:gd name="adj" fmla="val 50000"/>
            </a:avLst>
          </a:prstGeom>
          <a:solidFill>
            <a:srgbClr val="0E1A45"/>
          </a:solidFill>
          <a:ln w="9525">
            <a:solidFill>
              <a:srgbClr val="00D4FF"/>
            </a:solidFill>
            <a:prstDash val="solid"/>
          </a:ln>
        </p:spPr>
      </p:sp>
      <p:sp>
        <p:nvSpPr>
          <p:cNvPr id="21" name="Text 19"/>
          <p:cNvSpPr txBox="1"/>
          <p:nvPr/>
        </p:nvSpPr>
        <p:spPr>
          <a:xfrm>
            <a:off x="5943600" y="2322576"/>
            <a:ext cx="1316736" cy="292608"/>
          </a:xfrm>
          <a:prstGeom prst="rect">
            <a:avLst/>
          </a:prstGeom>
          <a:noFill/>
          <a:ln/>
        </p:spPr>
        <p:txBody>
          <a:bodyPr wrap="square" lIns="0" tIns="0" rIns="0" bIns="0" rtlCol="0" anchor="ctr">
            <a:normAutofit/>
          </a:bodyPr>
          <a:lstStyle/>
          <a:p>
            <a:pPr algn="ctr" indent="0" marL="0">
              <a:buNone/>
            </a:pPr>
            <a:r>
              <a:rPr lang="en-US" sz="900" dirty="0">
                <a:solidFill>
                  <a:srgbClr val="FFFFFF"/>
                </a:solidFill>
                <a:latin typeface="Calibri" pitchFamily="34" charset="0"/>
                <a:ea typeface="Calibri" pitchFamily="34" charset="-122"/>
                <a:cs typeface="Calibri" pitchFamily="34" charset="-120"/>
              </a:rPr>
              <a:t>Completion_Rate</a:t>
            </a:r>
            <a:endParaRPr lang="en-US" sz="900" dirty="0"/>
          </a:p>
        </p:txBody>
      </p:sp>
      <p:sp>
        <p:nvSpPr>
          <p:cNvPr id="22" name="Shape 20"/>
          <p:cNvSpPr/>
          <p:nvPr/>
        </p:nvSpPr>
        <p:spPr>
          <a:xfrm>
            <a:off x="7333488" y="2322576"/>
            <a:ext cx="1316736" cy="292608"/>
          </a:xfrm>
          <a:prstGeom prst="roundRect">
            <a:avLst>
              <a:gd name="adj" fmla="val 50000"/>
            </a:avLst>
          </a:prstGeom>
          <a:solidFill>
            <a:srgbClr val="0E1A45"/>
          </a:solidFill>
          <a:ln w="9525">
            <a:solidFill>
              <a:srgbClr val="00D4FF"/>
            </a:solidFill>
            <a:prstDash val="solid"/>
          </a:ln>
        </p:spPr>
      </p:sp>
      <p:sp>
        <p:nvSpPr>
          <p:cNvPr id="23" name="Text 21"/>
          <p:cNvSpPr txBox="1"/>
          <p:nvPr/>
        </p:nvSpPr>
        <p:spPr>
          <a:xfrm>
            <a:off x="7333488" y="2322576"/>
            <a:ext cx="1316736" cy="292608"/>
          </a:xfrm>
          <a:prstGeom prst="rect">
            <a:avLst/>
          </a:prstGeom>
          <a:noFill/>
          <a:ln/>
        </p:spPr>
        <p:txBody>
          <a:bodyPr wrap="square" lIns="0" tIns="0" rIns="0" bIns="0" rtlCol="0" anchor="ctr">
            <a:normAutofit/>
          </a:bodyPr>
          <a:lstStyle/>
          <a:p>
            <a:pPr algn="ctr" indent="0" marL="0">
              <a:buNone/>
            </a:pPr>
            <a:r>
              <a:rPr lang="en-US" sz="900" dirty="0">
                <a:solidFill>
                  <a:srgbClr val="FFFFFF"/>
                </a:solidFill>
                <a:latin typeface="Calibri" pitchFamily="34" charset="0"/>
                <a:ea typeface="Calibri" pitchFamily="34" charset="-122"/>
                <a:cs typeface="Calibri" pitchFamily="34" charset="-120"/>
              </a:rPr>
              <a:t>Length_Category</a:t>
            </a:r>
            <a:endParaRPr lang="en-US" sz="900" dirty="0"/>
          </a:p>
        </p:txBody>
      </p:sp>
      <p:sp>
        <p:nvSpPr>
          <p:cNvPr id="24" name="Shape 22"/>
          <p:cNvSpPr/>
          <p:nvPr/>
        </p:nvSpPr>
        <p:spPr>
          <a:xfrm>
            <a:off x="5943600" y="2706624"/>
            <a:ext cx="1316736" cy="292608"/>
          </a:xfrm>
          <a:prstGeom prst="roundRect">
            <a:avLst>
              <a:gd name="adj" fmla="val 50000"/>
            </a:avLst>
          </a:prstGeom>
          <a:solidFill>
            <a:srgbClr val="0E1A45"/>
          </a:solidFill>
          <a:ln w="9525">
            <a:solidFill>
              <a:srgbClr val="00D4FF"/>
            </a:solidFill>
            <a:prstDash val="solid"/>
          </a:ln>
        </p:spPr>
      </p:sp>
      <p:sp>
        <p:nvSpPr>
          <p:cNvPr id="25" name="Text 23"/>
          <p:cNvSpPr txBox="1"/>
          <p:nvPr/>
        </p:nvSpPr>
        <p:spPr>
          <a:xfrm>
            <a:off x="5943600" y="2706624"/>
            <a:ext cx="1316736" cy="292608"/>
          </a:xfrm>
          <a:prstGeom prst="rect">
            <a:avLst/>
          </a:prstGeom>
          <a:noFill/>
          <a:ln/>
        </p:spPr>
        <p:txBody>
          <a:bodyPr wrap="square" lIns="0" tIns="0" rIns="0" bIns="0" rtlCol="0" anchor="ctr">
            <a:normAutofit/>
          </a:bodyPr>
          <a:lstStyle/>
          <a:p>
            <a:pPr algn="ctr" indent="0" marL="0">
              <a:buNone/>
            </a:pPr>
            <a:r>
              <a:rPr lang="en-US" sz="900" dirty="0">
                <a:solidFill>
                  <a:srgbClr val="FFFFFF"/>
                </a:solidFill>
                <a:latin typeface="Calibri" pitchFamily="34" charset="0"/>
                <a:ea typeface="Calibri" pitchFamily="34" charset="-122"/>
                <a:cs typeface="Calibri" pitchFamily="34" charset="-120"/>
              </a:rPr>
              <a:t>Popularity_Tier</a:t>
            </a:r>
            <a:endParaRPr lang="en-US" sz="900" dirty="0"/>
          </a:p>
        </p:txBody>
      </p:sp>
      <p:sp>
        <p:nvSpPr>
          <p:cNvPr id="26" name="Shape 24"/>
          <p:cNvSpPr/>
          <p:nvPr/>
        </p:nvSpPr>
        <p:spPr>
          <a:xfrm>
            <a:off x="7333488" y="2706624"/>
            <a:ext cx="1316736" cy="292608"/>
          </a:xfrm>
          <a:prstGeom prst="roundRect">
            <a:avLst>
              <a:gd name="adj" fmla="val 50000"/>
            </a:avLst>
          </a:prstGeom>
          <a:solidFill>
            <a:srgbClr val="0E1A45"/>
          </a:solidFill>
          <a:ln w="9525">
            <a:solidFill>
              <a:srgbClr val="00D4FF"/>
            </a:solidFill>
            <a:prstDash val="solid"/>
          </a:ln>
        </p:spPr>
      </p:sp>
      <p:sp>
        <p:nvSpPr>
          <p:cNvPr id="27" name="Text 25"/>
          <p:cNvSpPr txBox="1"/>
          <p:nvPr/>
        </p:nvSpPr>
        <p:spPr>
          <a:xfrm>
            <a:off x="7333488" y="2706624"/>
            <a:ext cx="1316736" cy="292608"/>
          </a:xfrm>
          <a:prstGeom prst="rect">
            <a:avLst/>
          </a:prstGeom>
          <a:noFill/>
          <a:ln/>
        </p:spPr>
        <p:txBody>
          <a:bodyPr wrap="square" lIns="0" tIns="0" rIns="0" bIns="0" rtlCol="0" anchor="ctr">
            <a:normAutofit/>
          </a:bodyPr>
          <a:lstStyle/>
          <a:p>
            <a:pPr algn="ctr" indent="0" marL="0">
              <a:buNone/>
            </a:pPr>
            <a:r>
              <a:rPr lang="en-US" sz="900" dirty="0">
                <a:solidFill>
                  <a:srgbClr val="FFFFFF"/>
                </a:solidFill>
                <a:latin typeface="Calibri" pitchFamily="34" charset="0"/>
                <a:ea typeface="Calibri" pitchFamily="34" charset="-122"/>
                <a:cs typeface="Calibri" pitchFamily="34" charset="-120"/>
              </a:rPr>
              <a:t>Author_Status</a:t>
            </a:r>
            <a:endParaRPr lang="en-US" sz="900" dirty="0"/>
          </a:p>
        </p:txBody>
      </p:sp>
      <p:sp>
        <p:nvSpPr>
          <p:cNvPr id="28" name="Shape 26"/>
          <p:cNvSpPr/>
          <p:nvPr/>
        </p:nvSpPr>
        <p:spPr>
          <a:xfrm>
            <a:off x="5943600" y="3090672"/>
            <a:ext cx="1316736" cy="292608"/>
          </a:xfrm>
          <a:prstGeom prst="roundRect">
            <a:avLst>
              <a:gd name="adj" fmla="val 50000"/>
            </a:avLst>
          </a:prstGeom>
          <a:solidFill>
            <a:srgbClr val="0E1A45"/>
          </a:solidFill>
          <a:ln w="9525">
            <a:solidFill>
              <a:srgbClr val="00D4FF"/>
            </a:solidFill>
            <a:prstDash val="solid"/>
          </a:ln>
        </p:spPr>
      </p:sp>
      <p:sp>
        <p:nvSpPr>
          <p:cNvPr id="29" name="Text 27"/>
          <p:cNvSpPr txBox="1"/>
          <p:nvPr/>
        </p:nvSpPr>
        <p:spPr>
          <a:xfrm>
            <a:off x="5943600" y="3090672"/>
            <a:ext cx="1316736" cy="292608"/>
          </a:xfrm>
          <a:prstGeom prst="rect">
            <a:avLst/>
          </a:prstGeom>
          <a:noFill/>
          <a:ln/>
        </p:spPr>
        <p:txBody>
          <a:bodyPr wrap="square" lIns="0" tIns="0" rIns="0" bIns="0" rtlCol="0" anchor="ctr">
            <a:normAutofit/>
          </a:bodyPr>
          <a:lstStyle/>
          <a:p>
            <a:pPr algn="ctr" indent="0" marL="0">
              <a:buNone/>
            </a:pPr>
            <a:r>
              <a:rPr lang="en-US" sz="900" dirty="0">
                <a:solidFill>
                  <a:srgbClr val="FFFFFF"/>
                </a:solidFill>
                <a:latin typeface="Calibri" pitchFamily="34" charset="0"/>
                <a:ea typeface="Calibri" pitchFamily="34" charset="-122"/>
                <a:cs typeface="Calibri" pitchFamily="34" charset="-120"/>
              </a:rPr>
              <a:t>Is_Enriched</a:t>
            </a:r>
            <a:endParaRPr lang="en-US" sz="900" dirty="0"/>
          </a:p>
        </p:txBody>
      </p:sp>
      <p:sp>
        <p:nvSpPr>
          <p:cNvPr id="30" name="Shape 28"/>
          <p:cNvSpPr/>
          <p:nvPr/>
        </p:nvSpPr>
        <p:spPr>
          <a:xfrm>
            <a:off x="7333488" y="3090672"/>
            <a:ext cx="1316736" cy="292608"/>
          </a:xfrm>
          <a:prstGeom prst="roundRect">
            <a:avLst>
              <a:gd name="adj" fmla="val 50000"/>
            </a:avLst>
          </a:prstGeom>
          <a:solidFill>
            <a:srgbClr val="0E1A45"/>
          </a:solidFill>
          <a:ln w="9525">
            <a:solidFill>
              <a:srgbClr val="00D4FF"/>
            </a:solidFill>
            <a:prstDash val="solid"/>
          </a:ln>
        </p:spPr>
      </p:sp>
      <p:sp>
        <p:nvSpPr>
          <p:cNvPr id="31" name="Text 29"/>
          <p:cNvSpPr txBox="1"/>
          <p:nvPr/>
        </p:nvSpPr>
        <p:spPr>
          <a:xfrm>
            <a:off x="7333488" y="3090672"/>
            <a:ext cx="1316736" cy="292608"/>
          </a:xfrm>
          <a:prstGeom prst="rect">
            <a:avLst/>
          </a:prstGeom>
          <a:noFill/>
          <a:ln/>
        </p:spPr>
        <p:txBody>
          <a:bodyPr wrap="square" lIns="0" tIns="0" rIns="0" bIns="0" rtlCol="0" anchor="ctr">
            <a:normAutofit/>
          </a:bodyPr>
          <a:lstStyle/>
          <a:p>
            <a:pPr algn="ctr" indent="0" marL="0">
              <a:buNone/>
            </a:pPr>
            <a:r>
              <a:rPr lang="en-US" sz="900" dirty="0">
                <a:solidFill>
                  <a:srgbClr val="FFFFFF"/>
                </a:solidFill>
                <a:latin typeface="Calibri" pitchFamily="34" charset="0"/>
                <a:ea typeface="Calibri" pitchFamily="34" charset="-122"/>
                <a:cs typeface="Calibri" pitchFamily="34" charset="-120"/>
              </a:rPr>
              <a:t>Page_Count_Imputed</a:t>
            </a:r>
            <a:endParaRPr lang="en-US" sz="900" dirty="0"/>
          </a:p>
        </p:txBody>
      </p:sp>
      <p:sp>
        <p:nvSpPr>
          <p:cNvPr id="32" name="Shape 30"/>
          <p:cNvSpPr/>
          <p:nvPr/>
        </p:nvSpPr>
        <p:spPr>
          <a:xfrm>
            <a:off x="5943600" y="3611880"/>
            <a:ext cx="2706624" cy="960120"/>
          </a:xfrm>
          <a:prstGeom prst="roundRect">
            <a:avLst>
              <a:gd name="adj" fmla="val 9524"/>
            </a:avLst>
          </a:prstGeom>
          <a:solidFill>
            <a:srgbClr val="1A2550">
              <a:alpha val="75000"/>
            </a:srgbClr>
          </a:solidFill>
          <a:ln w="12700">
            <a:solidFill>
              <a:srgbClr val="00D4FF"/>
            </a:solidFill>
            <a:prstDash val="solid"/>
          </a:ln>
        </p:spPr>
      </p:sp>
      <p:sp>
        <p:nvSpPr>
          <p:cNvPr id="33" name="Text 31"/>
          <p:cNvSpPr txBox="1"/>
          <p:nvPr/>
        </p:nvSpPr>
        <p:spPr>
          <a:xfrm>
            <a:off x="6080760" y="3685032"/>
            <a:ext cx="2468880" cy="201168"/>
          </a:xfrm>
          <a:prstGeom prst="rect">
            <a:avLst/>
          </a:prstGeom>
          <a:noFill/>
          <a:ln/>
        </p:spPr>
        <p:txBody>
          <a:bodyPr wrap="square" lIns="0" tIns="0" rIns="0" bIns="0" rtlCol="0" anchor="ctr"/>
          <a:lstStyle/>
          <a:p>
            <a:pPr indent="0" marL="0">
              <a:buNone/>
            </a:pPr>
            <a:r>
              <a:rPr lang="en-US" sz="950" b="1" spc="200" kern="0" dirty="0">
                <a:solidFill>
                  <a:srgbClr val="00D4FF"/>
                </a:solidFill>
                <a:latin typeface="Calibri" pitchFamily="34" charset="0"/>
                <a:ea typeface="Calibri" pitchFamily="34" charset="-122"/>
                <a:cs typeface="Calibri" pitchFamily="34" charset="-120"/>
              </a:rPr>
              <a:t>READY DATASET</a:t>
            </a:r>
            <a:endParaRPr lang="en-US" sz="950" dirty="0"/>
          </a:p>
        </p:txBody>
      </p:sp>
      <p:sp>
        <p:nvSpPr>
          <p:cNvPr id="34" name="Text 32"/>
          <p:cNvSpPr txBox="1"/>
          <p:nvPr/>
        </p:nvSpPr>
        <p:spPr>
          <a:xfrm>
            <a:off x="6080760" y="3904488"/>
            <a:ext cx="246888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2,081 × 17  →  2,075 × 33</a:t>
            </a:r>
            <a:endParaRPr lang="en-US" sz="1600" dirty="0"/>
          </a:p>
        </p:txBody>
      </p:sp>
      <p:sp>
        <p:nvSpPr>
          <p:cNvPr id="35" name="Text 33"/>
          <p:cNvSpPr txBox="1"/>
          <p:nvPr/>
        </p:nvSpPr>
        <p:spPr>
          <a:xfrm>
            <a:off x="6080760" y="4206240"/>
            <a:ext cx="2468880" cy="182880"/>
          </a:xfrm>
          <a:prstGeom prst="rect">
            <a:avLst/>
          </a:prstGeom>
          <a:noFill/>
          <a:ln/>
        </p:spPr>
        <p:txBody>
          <a:bodyPr wrap="square" lIns="0" tIns="0" rIns="0" bIns="0" rtlCol="0" anchor="ctr"/>
          <a:lstStyle/>
          <a:p>
            <a:pPr indent="0" marL="0">
              <a:buNone/>
            </a:pPr>
            <a:r>
              <a:rPr lang="en-US" sz="950" dirty="0">
                <a:solidFill>
                  <a:srgbClr val="A9BCE0"/>
                </a:solidFill>
                <a:latin typeface="Calibri" pitchFamily="34" charset="0"/>
                <a:ea typeface="Calibri" pitchFamily="34" charset="-122"/>
                <a:cs typeface="Calibri" pitchFamily="34" charset="-120"/>
              </a:rPr>
              <a:t>rows × columns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56032"/>
          </a:xfrm>
          <a:prstGeom prst="rect">
            <a:avLst/>
          </a:prstGeom>
          <a:noFill/>
          <a:ln/>
        </p:spPr>
        <p:txBody>
          <a:bodyPr wrap="square" lIns="0" tIns="0" rIns="0" bIns="0" rtlCol="0" anchor="ctr"/>
          <a:lstStyle/>
          <a:p>
            <a:pPr indent="0" marL="0">
              <a:buNone/>
            </a:pPr>
            <a:r>
              <a:rPr lang="en-US" sz="1000" b="1" spc="400" kern="0" dirty="0">
                <a:solidFill>
                  <a:srgbClr val="00D4FF"/>
                </a:solidFill>
                <a:latin typeface="Calibri" pitchFamily="34" charset="0"/>
                <a:ea typeface="Calibri" pitchFamily="34" charset="-122"/>
                <a:cs typeface="Calibri" pitchFamily="34" charset="-120"/>
              </a:rPr>
              <a:t>VISUALIZATION  •  HOW</a:t>
            </a:r>
            <a:endParaRPr lang="en-US" sz="1000" dirty="0"/>
          </a:p>
        </p:txBody>
      </p:sp>
      <p:sp>
        <p:nvSpPr>
          <p:cNvPr id="3" name="Text 1"/>
          <p:cNvSpPr txBox="1"/>
          <p:nvPr/>
        </p:nvSpPr>
        <p:spPr>
          <a:xfrm>
            <a:off x="457200" y="530352"/>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Building the Charts with Matplotlib</a:t>
            </a:r>
            <a:endParaRPr lang="en-US" sz="26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A9BCE0"/>
                </a:solidFill>
                <a:latin typeface="Calibri" pitchFamily="34" charset="0"/>
                <a:ea typeface="Calibri" pitchFamily="34" charset="-122"/>
                <a:cs typeface="Calibri" pitchFamily="34" charset="-120"/>
              </a:rPr>
              <a:t>09 / 12</a:t>
            </a:r>
            <a:endParaRPr lang="en-US" sz="900" dirty="0"/>
          </a:p>
        </p:txBody>
      </p:sp>
      <p:sp>
        <p:nvSpPr>
          <p:cNvPr id="5" name="Shape 3"/>
          <p:cNvSpPr/>
          <p:nvPr/>
        </p:nvSpPr>
        <p:spPr>
          <a:xfrm>
            <a:off x="457200" y="1234440"/>
            <a:ext cx="4206240" cy="2743200"/>
          </a:xfrm>
          <a:prstGeom prst="roundRect">
            <a:avLst>
              <a:gd name="adj" fmla="val 2667"/>
            </a:avLst>
          </a:prstGeom>
          <a:solidFill>
            <a:srgbClr val="070C22">
              <a:alpha val="92000"/>
            </a:srgbClr>
          </a:solidFill>
          <a:ln w="12700">
            <a:solidFill>
              <a:srgbClr val="2E4A8A"/>
            </a:solidFill>
            <a:prstDash val="solid"/>
          </a:ln>
        </p:spPr>
      </p:sp>
      <p:sp>
        <p:nvSpPr>
          <p:cNvPr id="6" name="Shape 4"/>
          <p:cNvSpPr/>
          <p:nvPr/>
        </p:nvSpPr>
        <p:spPr>
          <a:xfrm>
            <a:off x="594360" y="1344168"/>
            <a:ext cx="82296" cy="82296"/>
          </a:xfrm>
          <a:prstGeom prst="ellipse">
            <a:avLst/>
          </a:prstGeom>
          <a:solidFill>
            <a:srgbClr val="FF5F57"/>
          </a:solidFill>
          <a:ln w="12700">
            <a:solidFill>
              <a:srgbClr val="FF5F57"/>
            </a:solidFill>
            <a:prstDash val="solid"/>
          </a:ln>
        </p:spPr>
      </p:sp>
      <p:sp>
        <p:nvSpPr>
          <p:cNvPr id="7" name="Shape 5"/>
          <p:cNvSpPr/>
          <p:nvPr/>
        </p:nvSpPr>
        <p:spPr>
          <a:xfrm>
            <a:off x="731520" y="1344168"/>
            <a:ext cx="82296" cy="82296"/>
          </a:xfrm>
          <a:prstGeom prst="ellipse">
            <a:avLst/>
          </a:prstGeom>
          <a:solidFill>
            <a:srgbClr val="FEBC2E"/>
          </a:solidFill>
          <a:ln w="12700">
            <a:solidFill>
              <a:srgbClr val="FEBC2E"/>
            </a:solidFill>
            <a:prstDash val="solid"/>
          </a:ln>
        </p:spPr>
      </p:sp>
      <p:sp>
        <p:nvSpPr>
          <p:cNvPr id="8" name="Shape 6"/>
          <p:cNvSpPr/>
          <p:nvPr/>
        </p:nvSpPr>
        <p:spPr>
          <a:xfrm>
            <a:off x="868680" y="1344168"/>
            <a:ext cx="82296" cy="82296"/>
          </a:xfrm>
          <a:prstGeom prst="ellipse">
            <a:avLst/>
          </a:prstGeom>
          <a:solidFill>
            <a:srgbClr val="28C840"/>
          </a:solidFill>
          <a:ln w="12700">
            <a:solidFill>
              <a:srgbClr val="28C840"/>
            </a:solidFill>
            <a:prstDash val="solid"/>
          </a:ln>
        </p:spPr>
      </p:sp>
      <p:sp>
        <p:nvSpPr>
          <p:cNvPr id="9" name="Text 7"/>
          <p:cNvSpPr txBox="1"/>
          <p:nvPr/>
        </p:nvSpPr>
        <p:spPr>
          <a:xfrm>
            <a:off x="1051560" y="1289304"/>
            <a:ext cx="3474720" cy="182880"/>
          </a:xfrm>
          <a:prstGeom prst="rect">
            <a:avLst/>
          </a:prstGeom>
          <a:noFill/>
          <a:ln/>
        </p:spPr>
        <p:txBody>
          <a:bodyPr wrap="square" lIns="0" tIns="0" rIns="0" bIns="0" rtlCol="0" anchor="ctr"/>
          <a:lstStyle/>
          <a:p>
            <a:pPr indent="0" marL="0">
              <a:buNone/>
            </a:pPr>
            <a:r>
              <a:rPr lang="en-US" sz="800" dirty="0">
                <a:solidFill>
                  <a:srgbClr val="A9BCE0"/>
                </a:solidFill>
                <a:latin typeface="Courier New" pitchFamily="34" charset="0"/>
                <a:ea typeface="Courier New" pitchFamily="34" charset="-122"/>
                <a:cs typeface="Courier New" pitchFamily="34" charset="-120"/>
              </a:rPr>
              <a:t>book_data_wrangling.py</a:t>
            </a:r>
            <a:endParaRPr lang="en-US" sz="800" dirty="0"/>
          </a:p>
        </p:txBody>
      </p:sp>
      <p:sp>
        <p:nvSpPr>
          <p:cNvPr id="10" name="Text 8"/>
          <p:cNvSpPr txBox="1"/>
          <p:nvPr/>
        </p:nvSpPr>
        <p:spPr>
          <a:xfrm>
            <a:off x="621792" y="1563624"/>
            <a:ext cx="3931920" cy="2322576"/>
          </a:xfrm>
          <a:prstGeom prst="rect">
            <a:avLst/>
          </a:prstGeom>
          <a:noFill/>
          <a:ln/>
        </p:spPr>
        <p:txBody>
          <a:bodyPr wrap="square" lIns="0" tIns="0" rIns="0" bIns="0" rtlCol="0" anchor="t"/>
          <a:lstStyle/>
          <a:p>
            <a:pPr indent="0" marL="0">
              <a:lnSpc>
                <a:spcPct val="100000"/>
              </a:lnSpc>
              <a:buNone/>
            </a:pPr>
            <a:r>
              <a:rPr lang="en-US" sz="850" i="1" dirty="0">
                <a:solidFill>
                  <a:srgbClr val="6A8BAF"/>
                </a:solidFill>
                <a:latin typeface="Courier New" pitchFamily="34" charset="0"/>
                <a:ea typeface="Courier New" pitchFamily="34" charset="-122"/>
                <a:cs typeface="Courier New" pitchFamily="34" charset="-120"/>
              </a:rPr>
              <a:t># One theme for every chart (matches our slides)</a:t>
            </a:r>
            <a:endParaRPr lang="en-US" sz="850" dirty="0"/>
          </a:p>
          <a:p>
            <a:pPr indent="0" marL="0">
              <a:lnSpc>
                <a:spcPct val="100000"/>
              </a:lnSpc>
              <a:buNone/>
            </a:pPr>
            <a:r>
              <a:rPr lang="en-US" sz="850" dirty="0">
                <a:solidFill>
                  <a:srgbClr val="7FE3FF"/>
                </a:solidFill>
                <a:latin typeface="Courier New" pitchFamily="34" charset="0"/>
                <a:ea typeface="Courier New" pitchFamily="34" charset="-122"/>
                <a:cs typeface="Courier New" pitchFamily="34" charset="-120"/>
              </a:rPr>
              <a:t>plt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rcParams</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update</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endParaRPr lang="en-US" sz="850" dirty="0"/>
          </a:p>
          <a:p>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F7B267"/>
                </a:solidFill>
                <a:latin typeface="Courier New" pitchFamily="34" charset="0"/>
                <a:ea typeface="Courier New" pitchFamily="34" charset="-122"/>
                <a:cs typeface="Courier New" pitchFamily="34" charset="-120"/>
              </a:rPr>
              <a:t>"figure.facecolor"</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F7B267"/>
                </a:solidFill>
                <a:latin typeface="Courier New" pitchFamily="34" charset="0"/>
                <a:ea typeface="Courier New" pitchFamily="34" charset="-122"/>
                <a:cs typeface="Courier New" pitchFamily="34" charset="-120"/>
              </a:rPr>
              <a:t>"#0a1230"</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endParaRPr lang="en-US" sz="850" dirty="0"/>
          </a:p>
          <a:p>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F7B267"/>
                </a:solidFill>
                <a:latin typeface="Courier New" pitchFamily="34" charset="0"/>
                <a:ea typeface="Courier New" pitchFamily="34" charset="-122"/>
                <a:cs typeface="Courier New" pitchFamily="34" charset="-120"/>
              </a:rPr>
              <a:t>"axes.facecolor"</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F7B267"/>
                </a:solidFill>
                <a:latin typeface="Courier New" pitchFamily="34" charset="0"/>
                <a:ea typeface="Courier New" pitchFamily="34" charset="-122"/>
                <a:cs typeface="Courier New" pitchFamily="34" charset="-120"/>
              </a:rPr>
              <a:t>"#121d45"</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endParaRPr lang="en-US" sz="850" dirty="0"/>
          </a:p>
          <a:p>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F7B267"/>
                </a:solidFill>
                <a:latin typeface="Courier New" pitchFamily="34" charset="0"/>
                <a:ea typeface="Courier New" pitchFamily="34" charset="-122"/>
                <a:cs typeface="Courier New" pitchFamily="34" charset="-120"/>
              </a:rPr>
              <a:t>"text.color"</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F7B267"/>
                </a:solidFill>
                <a:latin typeface="Courier New" pitchFamily="34" charset="0"/>
                <a:ea typeface="Courier New" pitchFamily="34" charset="-122"/>
                <a:cs typeface="Courier New" pitchFamily="34" charset="-120"/>
              </a:rPr>
              <a:t>"#ffffff"</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endParaRPr lang="en-US" sz="850" dirty="0"/>
          </a:p>
          <a:p>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endParaRPr lang="en-US" sz="850" dirty="0"/>
          </a:p>
          <a:p>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vc</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F7B267"/>
                </a:solidFill>
                <a:latin typeface="Courier New" pitchFamily="34" charset="0"/>
                <a:ea typeface="Courier New" pitchFamily="34" charset="-122"/>
                <a:cs typeface="Courier New" pitchFamily="34" charset="-120"/>
              </a:rPr>
              <a:t>"Genre"</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value_counts</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endParaRPr lang="en-US" sz="850" dirty="0"/>
          </a:p>
          <a:p>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endParaRPr lang="en-US" sz="850" dirty="0"/>
          </a:p>
          <a:p>
            <a:pPr indent="0" marL="0">
              <a:lnSpc>
                <a:spcPct val="100000"/>
              </a:lnSpc>
              <a:buNone/>
            </a:pPr>
            <a:r>
              <a:rPr lang="en-US" sz="850" dirty="0">
                <a:solidFill>
                  <a:srgbClr val="7FE3FF"/>
                </a:solidFill>
                <a:latin typeface="Courier New" pitchFamily="34" charset="0"/>
                <a:ea typeface="Courier New" pitchFamily="34" charset="-122"/>
                <a:cs typeface="Courier New" pitchFamily="34" charset="-120"/>
              </a:rPr>
              <a:t>fig</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7FE3FF"/>
                </a:solidFill>
                <a:latin typeface="Courier New" pitchFamily="34" charset="0"/>
                <a:ea typeface="Courier New" pitchFamily="34" charset="-122"/>
                <a:cs typeface="Courier New" pitchFamily="34" charset="-120"/>
              </a:rPr>
              <a:t>ax</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7FE3FF"/>
                </a:solidFill>
                <a:latin typeface="Courier New" pitchFamily="34" charset="0"/>
                <a:ea typeface="Courier New" pitchFamily="34" charset="-122"/>
                <a:cs typeface="Courier New" pitchFamily="34" charset="-120"/>
              </a:rPr>
              <a:t>plt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subplots</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figsize</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=(10,</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F78C9C"/>
                </a:solidFill>
                <a:latin typeface="Courier New" pitchFamily="34" charset="0"/>
                <a:ea typeface="Courier New" pitchFamily="34" charset="-122"/>
                <a:cs typeface="Courier New" pitchFamily="34" charset="-120"/>
              </a:rPr>
              <a:t>5.6))</a:t>
            </a:r>
            <a:endParaRPr lang="en-US" sz="850" dirty="0"/>
          </a:p>
          <a:p>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bars</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7FE3FF"/>
                </a:solidFill>
                <a:latin typeface="Courier New" pitchFamily="34" charset="0"/>
                <a:ea typeface="Courier New" pitchFamily="34" charset="-122"/>
                <a:cs typeface="Courier New" pitchFamily="34" charset="-120"/>
              </a:rPr>
              <a:t>ax</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bar</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vc</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index</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vc</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values</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color</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F7B267"/>
                </a:solidFill>
                <a:latin typeface="Courier New" pitchFamily="34" charset="0"/>
                <a:ea typeface="Courier New" pitchFamily="34" charset="-122"/>
                <a:cs typeface="Courier New" pitchFamily="34" charset="-120"/>
              </a:rPr>
              <a:t>"#00d4ff"</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endParaRPr lang="en-US" sz="850" dirty="0"/>
          </a:p>
          <a:p>
            <a:pPr indent="0" marL="0">
              <a:lnSpc>
                <a:spcPct val="100000"/>
              </a:lnSpc>
              <a:buNone/>
            </a:pPr>
            <a:r>
              <a:rPr lang="en-US" sz="850" dirty="0">
                <a:solidFill>
                  <a:srgbClr val="7FE3FF"/>
                </a:solidFill>
                <a:latin typeface="Courier New" pitchFamily="34" charset="0"/>
                <a:ea typeface="Courier New" pitchFamily="34" charset="-122"/>
                <a:cs typeface="Courier New" pitchFamily="34" charset="-120"/>
              </a:rPr>
              <a:t>ax</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bar_label</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bars</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padding</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=3)</a:t>
            </a:r>
            <a:endParaRPr lang="en-US" sz="850" dirty="0"/>
          </a:p>
          <a:p>
            <a:pPr indent="0" marL="0">
              <a:lnSpc>
                <a:spcPct val="100000"/>
              </a:lnSpc>
              <a:buNone/>
            </a:pPr>
            <a:r>
              <a:rPr lang="en-US" sz="850" dirty="0">
                <a:solidFill>
                  <a:srgbClr val="7FE3FF"/>
                </a:solidFill>
                <a:latin typeface="Courier New" pitchFamily="34" charset="0"/>
                <a:ea typeface="Courier New" pitchFamily="34" charset="-122"/>
                <a:cs typeface="Courier New" pitchFamily="34" charset="-120"/>
              </a:rPr>
              <a:t>ax</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set_title</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F7B267"/>
                </a:solidFill>
                <a:latin typeface="Courier New" pitchFamily="34" charset="0"/>
                <a:ea typeface="Courier New" pitchFamily="34" charset="-122"/>
                <a:cs typeface="Courier New" pitchFamily="34" charset="-120"/>
              </a:rPr>
              <a:t>"Books by Genre"</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endParaRPr lang="en-US" sz="850" dirty="0"/>
          </a:p>
          <a:p>
            <a:pPr indent="0" marL="0">
              <a:lnSpc>
                <a:spcPct val="100000"/>
              </a:lnSpc>
              <a:buNone/>
            </a:pPr>
            <a:r>
              <a:rPr lang="en-US" sz="850" dirty="0">
                <a:solidFill>
                  <a:srgbClr val="7FE3FF"/>
                </a:solidFill>
                <a:latin typeface="Courier New" pitchFamily="34" charset="0"/>
                <a:ea typeface="Courier New" pitchFamily="34" charset="-122"/>
                <a:cs typeface="Courier New" pitchFamily="34" charset="-120"/>
              </a:rPr>
              <a:t>ax</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set_ylabel</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F7B267"/>
                </a:solidFill>
                <a:latin typeface="Courier New" pitchFamily="34" charset="0"/>
                <a:ea typeface="Courier New" pitchFamily="34" charset="-122"/>
                <a:cs typeface="Courier New" pitchFamily="34" charset="-120"/>
              </a:rPr>
              <a:t>"Number of books"</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endParaRPr lang="en-US" sz="850" dirty="0"/>
          </a:p>
          <a:p>
            <a:pPr indent="0" marL="0">
              <a:lnSpc>
                <a:spcPct val="100000"/>
              </a:lnSpc>
              <a:buNone/>
            </a:pPr>
            <a:r>
              <a:rPr lang="en-US" sz="850" dirty="0">
                <a:solidFill>
                  <a:srgbClr val="7FE3FF"/>
                </a:solidFill>
                <a:latin typeface="Courier New" pitchFamily="34" charset="0"/>
                <a:ea typeface="Courier New" pitchFamily="34" charset="-122"/>
                <a:cs typeface="Courier New" pitchFamily="34" charset="-120"/>
              </a:rPr>
              <a:t>fig</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savefig</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F7B267"/>
                </a:solidFill>
                <a:latin typeface="Courier New" pitchFamily="34" charset="0"/>
                <a:ea typeface="Courier New" pitchFamily="34" charset="-122"/>
                <a:cs typeface="Courier New" pitchFamily="34" charset="-120"/>
              </a:rPr>
              <a:t>"charts/01_books_by_genre.png"</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dpi</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=180)</a:t>
            </a:r>
            <a:endParaRPr lang="en-US" sz="850" dirty="0"/>
          </a:p>
        </p:txBody>
      </p:sp>
      <p:pic>
        <p:nvPicPr>
          <p:cNvPr id="11" name="Image 0" descr="/mnt/user-data/outputs/charts/01_books_by_genre.png">    </p:cNvPr>
          <p:cNvPicPr>
            <a:picLocks noChangeAspect="1"/>
          </p:cNvPicPr>
          <p:nvPr/>
        </p:nvPicPr>
        <p:blipFill>
          <a:blip r:embed="rId2"/>
          <a:stretch>
            <a:fillRect/>
          </a:stretch>
        </p:blipFill>
        <p:spPr>
          <a:xfrm>
            <a:off x="4892040" y="1234440"/>
            <a:ext cx="3794760" cy="2123537"/>
          </a:xfrm>
          <a:prstGeom prst="rect">
            <a:avLst/>
          </a:prstGeom>
        </p:spPr>
      </p:pic>
      <p:sp>
        <p:nvSpPr>
          <p:cNvPr id="12" name="Text 9"/>
          <p:cNvSpPr txBox="1"/>
          <p:nvPr/>
        </p:nvSpPr>
        <p:spPr>
          <a:xfrm>
            <a:off x="4892040" y="3540857"/>
            <a:ext cx="3794760" cy="822960"/>
          </a:xfrm>
          <a:prstGeom prst="rect">
            <a:avLst/>
          </a:prstGeom>
          <a:noFill/>
          <a:ln/>
        </p:spPr>
        <p:txBody>
          <a:bodyPr wrap="square" lIns="0" tIns="0" rIns="0" bIns="0" rtlCol="0" anchor="t"/>
          <a:lstStyle/>
          <a:p>
            <a:pPr indent="0" marL="0">
              <a:buNone/>
            </a:pPr>
            <a:r>
              <a:rPr lang="en-US" sz="1150" b="1" dirty="0">
                <a:solidFill>
                  <a:srgbClr val="00D4FF"/>
                </a:solidFill>
                <a:latin typeface="Calibri" pitchFamily="34" charset="0"/>
                <a:ea typeface="Calibri" pitchFamily="34" charset="-122"/>
                <a:cs typeface="Calibri" pitchFamily="34" charset="-120"/>
              </a:rPr>
              <a:t>Insight: </a:t>
            </a:r>
            <a:pPr indent="0" marL="0">
              <a:buNone/>
            </a:pPr>
            <a:r>
              <a:rPr lang="en-US" sz="1150" dirty="0">
                <a:solidFill>
                  <a:srgbClr val="FFFFFF"/>
                </a:solidFill>
                <a:latin typeface="Calibri" pitchFamily="34" charset="0"/>
                <a:ea typeface="Calibri" pitchFamily="34" charset="-122"/>
                <a:cs typeface="Calibri" pitchFamily="34" charset="-120"/>
              </a:rPr>
              <a:t>genres are well balanced — Romance is largest (281), Fantasy smallest (228), so comparisons between genres are fair.</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56032"/>
          </a:xfrm>
          <a:prstGeom prst="rect">
            <a:avLst/>
          </a:prstGeom>
          <a:noFill/>
          <a:ln/>
        </p:spPr>
        <p:txBody>
          <a:bodyPr wrap="square" lIns="0" tIns="0" rIns="0" bIns="0" rtlCol="0" anchor="ctr"/>
          <a:lstStyle/>
          <a:p>
            <a:pPr indent="0" marL="0">
              <a:buNone/>
            </a:pPr>
            <a:r>
              <a:rPr lang="en-US" sz="1000" b="1" spc="400" kern="0" dirty="0">
                <a:solidFill>
                  <a:srgbClr val="00D4FF"/>
                </a:solidFill>
                <a:latin typeface="Calibri" pitchFamily="34" charset="0"/>
                <a:ea typeface="Calibri" pitchFamily="34" charset="-122"/>
                <a:cs typeface="Calibri" pitchFamily="34" charset="-120"/>
              </a:rPr>
              <a:t>VISUALIZATION  •  GENRES &amp; TIME</a:t>
            </a:r>
            <a:endParaRPr lang="en-US" sz="1000" dirty="0"/>
          </a:p>
        </p:txBody>
      </p:sp>
      <p:sp>
        <p:nvSpPr>
          <p:cNvPr id="3" name="Text 1"/>
          <p:cNvSpPr txBox="1"/>
          <p:nvPr/>
        </p:nvSpPr>
        <p:spPr>
          <a:xfrm>
            <a:off x="457200" y="530352"/>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Genre Distribution and Publishing Over Time</a:t>
            </a:r>
            <a:endParaRPr lang="en-US" sz="26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A9BCE0"/>
                </a:solidFill>
                <a:latin typeface="Calibri" pitchFamily="34" charset="0"/>
                <a:ea typeface="Calibri" pitchFamily="34" charset="-122"/>
                <a:cs typeface="Calibri" pitchFamily="34" charset="-120"/>
              </a:rPr>
              <a:t>10 / 12</a:t>
            </a:r>
            <a:endParaRPr lang="en-US" sz="900" dirty="0"/>
          </a:p>
        </p:txBody>
      </p:sp>
      <p:sp>
        <p:nvSpPr>
          <p:cNvPr id="5" name="Shape 3"/>
          <p:cNvSpPr/>
          <p:nvPr/>
        </p:nvSpPr>
        <p:spPr>
          <a:xfrm>
            <a:off x="457200" y="1188720"/>
            <a:ext cx="3200400" cy="914400"/>
          </a:xfrm>
          <a:prstGeom prst="roundRect">
            <a:avLst>
              <a:gd name="adj" fmla="val 8000"/>
            </a:avLst>
          </a:prstGeom>
          <a:solidFill>
            <a:srgbClr val="070C22">
              <a:alpha val="92000"/>
            </a:srgbClr>
          </a:solidFill>
          <a:ln w="12700">
            <a:solidFill>
              <a:srgbClr val="2E4A8A"/>
            </a:solidFill>
            <a:prstDash val="solid"/>
          </a:ln>
        </p:spPr>
      </p:sp>
      <p:sp>
        <p:nvSpPr>
          <p:cNvPr id="6" name="Shape 4"/>
          <p:cNvSpPr/>
          <p:nvPr/>
        </p:nvSpPr>
        <p:spPr>
          <a:xfrm>
            <a:off x="594360" y="1298448"/>
            <a:ext cx="82296" cy="82296"/>
          </a:xfrm>
          <a:prstGeom prst="ellipse">
            <a:avLst/>
          </a:prstGeom>
          <a:solidFill>
            <a:srgbClr val="FF5F57"/>
          </a:solidFill>
          <a:ln w="12700">
            <a:solidFill>
              <a:srgbClr val="FF5F57"/>
            </a:solidFill>
            <a:prstDash val="solid"/>
          </a:ln>
        </p:spPr>
      </p:sp>
      <p:sp>
        <p:nvSpPr>
          <p:cNvPr id="7" name="Shape 5"/>
          <p:cNvSpPr/>
          <p:nvPr/>
        </p:nvSpPr>
        <p:spPr>
          <a:xfrm>
            <a:off x="731520" y="1298448"/>
            <a:ext cx="82296" cy="82296"/>
          </a:xfrm>
          <a:prstGeom prst="ellipse">
            <a:avLst/>
          </a:prstGeom>
          <a:solidFill>
            <a:srgbClr val="FEBC2E"/>
          </a:solidFill>
          <a:ln w="12700">
            <a:solidFill>
              <a:srgbClr val="FEBC2E"/>
            </a:solidFill>
            <a:prstDash val="solid"/>
          </a:ln>
        </p:spPr>
      </p:sp>
      <p:sp>
        <p:nvSpPr>
          <p:cNvPr id="8" name="Shape 6"/>
          <p:cNvSpPr/>
          <p:nvPr/>
        </p:nvSpPr>
        <p:spPr>
          <a:xfrm>
            <a:off x="868680" y="1298448"/>
            <a:ext cx="82296" cy="82296"/>
          </a:xfrm>
          <a:prstGeom prst="ellipse">
            <a:avLst/>
          </a:prstGeom>
          <a:solidFill>
            <a:srgbClr val="28C840"/>
          </a:solidFill>
          <a:ln w="12700">
            <a:solidFill>
              <a:srgbClr val="28C840"/>
            </a:solidFill>
            <a:prstDash val="solid"/>
          </a:ln>
        </p:spPr>
      </p:sp>
      <p:sp>
        <p:nvSpPr>
          <p:cNvPr id="9" name="Text 7"/>
          <p:cNvSpPr txBox="1"/>
          <p:nvPr/>
        </p:nvSpPr>
        <p:spPr>
          <a:xfrm>
            <a:off x="1051560" y="1243584"/>
            <a:ext cx="2468880" cy="182880"/>
          </a:xfrm>
          <a:prstGeom prst="rect">
            <a:avLst/>
          </a:prstGeom>
          <a:noFill/>
          <a:ln/>
        </p:spPr>
        <p:txBody>
          <a:bodyPr wrap="square" lIns="0" tIns="0" rIns="0" bIns="0" rtlCol="0" anchor="ctr"/>
          <a:lstStyle/>
          <a:p>
            <a:pPr indent="0" marL="0">
              <a:buNone/>
            </a:pPr>
            <a:r>
              <a:rPr lang="en-US" sz="800" dirty="0">
                <a:solidFill>
                  <a:srgbClr val="A9BCE0"/>
                </a:solidFill>
                <a:latin typeface="Courier New" pitchFamily="34" charset="0"/>
                <a:ea typeface="Courier New" pitchFamily="34" charset="-122"/>
                <a:cs typeface="Courier New" pitchFamily="34" charset="-120"/>
              </a:rPr>
              <a:t>donut chart</a:t>
            </a:r>
            <a:endParaRPr lang="en-US" sz="800" dirty="0"/>
          </a:p>
        </p:txBody>
      </p:sp>
      <p:sp>
        <p:nvSpPr>
          <p:cNvPr id="10" name="Text 8"/>
          <p:cNvSpPr txBox="1"/>
          <p:nvPr/>
        </p:nvSpPr>
        <p:spPr>
          <a:xfrm>
            <a:off x="621792" y="1517904"/>
            <a:ext cx="2926080" cy="493776"/>
          </a:xfrm>
          <a:prstGeom prst="rect">
            <a:avLst/>
          </a:prstGeom>
          <a:noFill/>
          <a:ln/>
        </p:spPr>
        <p:txBody>
          <a:bodyPr wrap="square" lIns="0" tIns="0" rIns="0" bIns="0" rtlCol="0" anchor="t"/>
          <a:lstStyle/>
          <a:p>
            <a:pPr indent="0" marL="0">
              <a:lnSpc>
                <a:spcPct val="100000"/>
              </a:lnSpc>
              <a:buNone/>
            </a:pPr>
            <a:r>
              <a:rPr lang="en-US" sz="850" dirty="0">
                <a:solidFill>
                  <a:srgbClr val="7FE3FF"/>
                </a:solidFill>
                <a:latin typeface="Courier New" pitchFamily="34" charset="0"/>
                <a:ea typeface="Courier New" pitchFamily="34" charset="-122"/>
                <a:cs typeface="Courier New" pitchFamily="34" charset="-120"/>
              </a:rPr>
              <a:t>ax</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pie</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vc</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values</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labels</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vc</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index</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endParaRPr lang="en-US" sz="850" dirty="0"/>
          </a:p>
          <a:p>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autopct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F7B267"/>
                </a:solidFill>
                <a:latin typeface="Courier New" pitchFamily="34" charset="0"/>
                <a:ea typeface="Courier New" pitchFamily="34" charset="-122"/>
                <a:cs typeface="Courier New" pitchFamily="34" charset="-120"/>
              </a:rPr>
              <a:t>"%1.1f%%"</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endParaRPr lang="en-US" sz="850" dirty="0"/>
          </a:p>
          <a:p>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wedgeprops</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dict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width</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=0.38))</a:t>
            </a:r>
            <a:endParaRPr lang="en-US" sz="850" dirty="0"/>
          </a:p>
        </p:txBody>
      </p:sp>
      <p:pic>
        <p:nvPicPr>
          <p:cNvPr id="11" name="Image 0" descr="/mnt/user-data/outputs/charts/02_genre_distribution.png">    </p:cNvPr>
          <p:cNvPicPr>
            <a:picLocks noChangeAspect="1"/>
          </p:cNvPicPr>
          <p:nvPr/>
        </p:nvPicPr>
        <p:blipFill>
          <a:blip r:embed="rId2"/>
          <a:stretch>
            <a:fillRect/>
          </a:stretch>
        </p:blipFill>
        <p:spPr>
          <a:xfrm>
            <a:off x="708660" y="2212848"/>
            <a:ext cx="2697480" cy="2091070"/>
          </a:xfrm>
          <a:prstGeom prst="rect">
            <a:avLst/>
          </a:prstGeom>
        </p:spPr>
      </p:pic>
      <p:sp>
        <p:nvSpPr>
          <p:cNvPr id="12" name="Shape 9"/>
          <p:cNvSpPr/>
          <p:nvPr/>
        </p:nvSpPr>
        <p:spPr>
          <a:xfrm>
            <a:off x="3886200" y="1188720"/>
            <a:ext cx="4800600" cy="914400"/>
          </a:xfrm>
          <a:prstGeom prst="roundRect">
            <a:avLst>
              <a:gd name="adj" fmla="val 8000"/>
            </a:avLst>
          </a:prstGeom>
          <a:solidFill>
            <a:srgbClr val="070C22">
              <a:alpha val="92000"/>
            </a:srgbClr>
          </a:solidFill>
          <a:ln w="12700">
            <a:solidFill>
              <a:srgbClr val="2E4A8A"/>
            </a:solidFill>
            <a:prstDash val="solid"/>
          </a:ln>
        </p:spPr>
      </p:sp>
      <p:sp>
        <p:nvSpPr>
          <p:cNvPr id="13" name="Shape 10"/>
          <p:cNvSpPr/>
          <p:nvPr/>
        </p:nvSpPr>
        <p:spPr>
          <a:xfrm>
            <a:off x="4023360" y="1298448"/>
            <a:ext cx="82296" cy="82296"/>
          </a:xfrm>
          <a:prstGeom prst="ellipse">
            <a:avLst/>
          </a:prstGeom>
          <a:solidFill>
            <a:srgbClr val="FF5F57"/>
          </a:solidFill>
          <a:ln w="12700">
            <a:solidFill>
              <a:srgbClr val="FF5F57"/>
            </a:solidFill>
            <a:prstDash val="solid"/>
          </a:ln>
        </p:spPr>
      </p:sp>
      <p:sp>
        <p:nvSpPr>
          <p:cNvPr id="14" name="Shape 11"/>
          <p:cNvSpPr/>
          <p:nvPr/>
        </p:nvSpPr>
        <p:spPr>
          <a:xfrm>
            <a:off x="4160520" y="1298448"/>
            <a:ext cx="82296" cy="82296"/>
          </a:xfrm>
          <a:prstGeom prst="ellipse">
            <a:avLst/>
          </a:prstGeom>
          <a:solidFill>
            <a:srgbClr val="FEBC2E"/>
          </a:solidFill>
          <a:ln w="12700">
            <a:solidFill>
              <a:srgbClr val="FEBC2E"/>
            </a:solidFill>
            <a:prstDash val="solid"/>
          </a:ln>
        </p:spPr>
      </p:sp>
      <p:sp>
        <p:nvSpPr>
          <p:cNvPr id="15" name="Shape 12"/>
          <p:cNvSpPr/>
          <p:nvPr/>
        </p:nvSpPr>
        <p:spPr>
          <a:xfrm>
            <a:off x="4297680" y="1298448"/>
            <a:ext cx="82296" cy="82296"/>
          </a:xfrm>
          <a:prstGeom prst="ellipse">
            <a:avLst/>
          </a:prstGeom>
          <a:solidFill>
            <a:srgbClr val="28C840"/>
          </a:solidFill>
          <a:ln w="12700">
            <a:solidFill>
              <a:srgbClr val="28C840"/>
            </a:solidFill>
            <a:prstDash val="solid"/>
          </a:ln>
        </p:spPr>
      </p:sp>
      <p:sp>
        <p:nvSpPr>
          <p:cNvPr id="16" name="Text 13"/>
          <p:cNvSpPr txBox="1"/>
          <p:nvPr/>
        </p:nvSpPr>
        <p:spPr>
          <a:xfrm>
            <a:off x="4480560" y="1243584"/>
            <a:ext cx="4069080" cy="182880"/>
          </a:xfrm>
          <a:prstGeom prst="rect">
            <a:avLst/>
          </a:prstGeom>
          <a:noFill/>
          <a:ln/>
        </p:spPr>
        <p:txBody>
          <a:bodyPr wrap="square" lIns="0" tIns="0" rIns="0" bIns="0" rtlCol="0" anchor="ctr"/>
          <a:lstStyle/>
          <a:p>
            <a:pPr indent="0" marL="0">
              <a:buNone/>
            </a:pPr>
            <a:r>
              <a:rPr lang="en-US" sz="800" dirty="0">
                <a:solidFill>
                  <a:srgbClr val="A9BCE0"/>
                </a:solidFill>
                <a:latin typeface="Courier New" pitchFamily="34" charset="0"/>
                <a:ea typeface="Courier New" pitchFamily="34" charset="-122"/>
                <a:cs typeface="Courier New" pitchFamily="34" charset="-120"/>
              </a:rPr>
              <a:t>line chart</a:t>
            </a:r>
            <a:endParaRPr lang="en-US" sz="800" dirty="0"/>
          </a:p>
        </p:txBody>
      </p:sp>
      <p:sp>
        <p:nvSpPr>
          <p:cNvPr id="17" name="Text 14"/>
          <p:cNvSpPr txBox="1"/>
          <p:nvPr/>
        </p:nvSpPr>
        <p:spPr>
          <a:xfrm>
            <a:off x="4050792" y="1517904"/>
            <a:ext cx="4526280" cy="493776"/>
          </a:xfrm>
          <a:prstGeom prst="rect">
            <a:avLst/>
          </a:prstGeom>
          <a:noFill/>
          <a:ln/>
        </p:spPr>
        <p:txBody>
          <a:bodyPr wrap="square" lIns="0" tIns="0" rIns="0" bIns="0" rtlCol="0" anchor="t"/>
          <a:lstStyle/>
          <a:p>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dec</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F7B267"/>
                </a:solidFill>
                <a:latin typeface="Courier New" pitchFamily="34" charset="0"/>
                <a:ea typeface="Courier New" pitchFamily="34" charset="-122"/>
                <a:cs typeface="Courier New" pitchFamily="34" charset="-120"/>
              </a:rPr>
              <a:t>"Decade"</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value_counts</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sort_index</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endParaRPr lang="en-US" sz="850" dirty="0"/>
          </a:p>
          <a:p>
            <a:pPr indent="0" marL="0">
              <a:lnSpc>
                <a:spcPct val="100000"/>
              </a:lnSpc>
              <a:buNone/>
            </a:pPr>
            <a:r>
              <a:rPr lang="en-US" sz="850" dirty="0">
                <a:solidFill>
                  <a:srgbClr val="7FE3FF"/>
                </a:solidFill>
                <a:latin typeface="Courier New" pitchFamily="34" charset="0"/>
                <a:ea typeface="Courier New" pitchFamily="34" charset="-122"/>
                <a:cs typeface="Courier New" pitchFamily="34" charset="-120"/>
              </a:rPr>
              <a:t>ax</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plot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dec</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index</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dec</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values</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marker</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F7B267"/>
                </a:solidFill>
                <a:latin typeface="Courier New" pitchFamily="34" charset="0"/>
                <a:ea typeface="Courier New" pitchFamily="34" charset="-122"/>
                <a:cs typeface="Courier New" pitchFamily="34" charset="-120"/>
              </a:rPr>
              <a:t>"o"</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endParaRPr lang="en-US" sz="850" dirty="0"/>
          </a:p>
          <a:p>
            <a:pPr indent="0" marL="0">
              <a:lnSpc>
                <a:spcPct val="100000"/>
              </a:lnSpc>
              <a:buNone/>
            </a:pPr>
            <a:r>
              <a:rPr lang="en-US" sz="850" dirty="0">
                <a:solidFill>
                  <a:srgbClr val="7FE3FF"/>
                </a:solidFill>
                <a:latin typeface="Courier New" pitchFamily="34" charset="0"/>
                <a:ea typeface="Courier New" pitchFamily="34" charset="-122"/>
                <a:cs typeface="Courier New" pitchFamily="34" charset="-120"/>
              </a:rPr>
              <a:t>ax</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fill_between</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dec</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index</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dec</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values</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alpha</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=0.12)</a:t>
            </a:r>
            <a:endParaRPr lang="en-US" sz="850" dirty="0"/>
          </a:p>
        </p:txBody>
      </p:sp>
      <p:pic>
        <p:nvPicPr>
          <p:cNvPr id="18" name="Image 1" descr="/mnt/user-data/outputs/charts/03_books_per_decade.png">    </p:cNvPr>
          <p:cNvPicPr>
            <a:picLocks noChangeAspect="1"/>
          </p:cNvPicPr>
          <p:nvPr/>
        </p:nvPicPr>
        <p:blipFill>
          <a:blip r:embed="rId3"/>
          <a:stretch>
            <a:fillRect/>
          </a:stretch>
        </p:blipFill>
        <p:spPr>
          <a:xfrm>
            <a:off x="3886200" y="2212848"/>
            <a:ext cx="4206240" cy="2139491"/>
          </a:xfrm>
          <a:prstGeom prst="rect">
            <a:avLst/>
          </a:prstGeom>
        </p:spPr>
      </p:pic>
      <p:sp>
        <p:nvSpPr>
          <p:cNvPr id="19" name="Text 15"/>
          <p:cNvSpPr txBox="1"/>
          <p:nvPr/>
        </p:nvSpPr>
        <p:spPr>
          <a:xfrm>
            <a:off x="3886200" y="4480560"/>
            <a:ext cx="4800600" cy="365760"/>
          </a:xfrm>
          <a:prstGeom prst="rect">
            <a:avLst/>
          </a:prstGeom>
          <a:noFill/>
          <a:ln/>
        </p:spPr>
        <p:txBody>
          <a:bodyPr wrap="square" lIns="0" tIns="0" rIns="0" bIns="0" rtlCol="0" anchor="t"/>
          <a:lstStyle/>
          <a:p>
            <a:pPr indent="0" marL="0">
              <a:buNone/>
            </a:pPr>
            <a:r>
              <a:rPr lang="en-US" sz="1000" b="1" dirty="0">
                <a:solidFill>
                  <a:srgbClr val="00D4FF"/>
                </a:solidFill>
                <a:latin typeface="Calibri" pitchFamily="34" charset="0"/>
                <a:ea typeface="Calibri" pitchFamily="34" charset="-122"/>
                <a:cs typeface="Calibri" pitchFamily="34" charset="-120"/>
              </a:rPr>
              <a:t>Insight: </a:t>
            </a:r>
            <a:pPr indent="0" marL="0">
              <a:buNone/>
            </a:pPr>
            <a:r>
              <a:rPr lang="en-US" sz="1000" dirty="0">
                <a:solidFill>
                  <a:srgbClr val="FFFFFF"/>
                </a:solidFill>
                <a:latin typeface="Calibri" pitchFamily="34" charset="0"/>
                <a:ea typeface="Calibri" pitchFamily="34" charset="-122"/>
                <a:cs typeface="Calibri" pitchFamily="34" charset="-120"/>
              </a:rPr>
              <a:t>publishing peaks in the 2000s (308 books); the 2020s look lower only because the decade isn't over.</a:t>
            </a:r>
            <a:endParaRPr lang="en-US" sz="1000" dirty="0"/>
          </a:p>
        </p:txBody>
      </p:sp>
      <p:sp>
        <p:nvSpPr>
          <p:cNvPr id="20" name="Text 16"/>
          <p:cNvSpPr txBox="1"/>
          <p:nvPr/>
        </p:nvSpPr>
        <p:spPr>
          <a:xfrm>
            <a:off x="457200" y="4480560"/>
            <a:ext cx="3200400" cy="365760"/>
          </a:xfrm>
          <a:prstGeom prst="rect">
            <a:avLst/>
          </a:prstGeom>
          <a:noFill/>
          <a:ln/>
        </p:spPr>
        <p:txBody>
          <a:bodyPr wrap="square" lIns="0" tIns="0" rIns="0" bIns="0" rtlCol="0" anchor="t"/>
          <a:lstStyle/>
          <a:p>
            <a:pPr indent="0" marL="0">
              <a:buNone/>
            </a:pPr>
            <a:r>
              <a:rPr lang="en-US" sz="1000" b="1" dirty="0">
                <a:solidFill>
                  <a:srgbClr val="00D4FF"/>
                </a:solidFill>
                <a:latin typeface="Calibri" pitchFamily="34" charset="0"/>
                <a:ea typeface="Calibri" pitchFamily="34" charset="-122"/>
                <a:cs typeface="Calibri" pitchFamily="34" charset="-120"/>
              </a:rPr>
              <a:t>Insight: </a:t>
            </a:r>
            <a:pPr indent="0" marL="0">
              <a:buNone/>
            </a:pPr>
            <a:r>
              <a:rPr lang="en-US" sz="1000" dirty="0">
                <a:solidFill>
                  <a:srgbClr val="FFFFFF"/>
                </a:solidFill>
                <a:latin typeface="Calibri" pitchFamily="34" charset="0"/>
                <a:ea typeface="Calibri" pitchFamily="34" charset="-122"/>
                <a:cs typeface="Calibri" pitchFamily="34" charset="-120"/>
              </a:rPr>
              <a:t>every genre holds 11–14% of the books.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56032"/>
          </a:xfrm>
          <a:prstGeom prst="rect">
            <a:avLst/>
          </a:prstGeom>
          <a:noFill/>
          <a:ln/>
        </p:spPr>
        <p:txBody>
          <a:bodyPr wrap="square" lIns="0" tIns="0" rIns="0" bIns="0" rtlCol="0" anchor="ctr"/>
          <a:lstStyle/>
          <a:p>
            <a:pPr indent="0" marL="0">
              <a:buNone/>
            </a:pPr>
            <a:r>
              <a:rPr lang="en-US" sz="1000" b="1" spc="400" kern="0" dirty="0">
                <a:solidFill>
                  <a:srgbClr val="00D4FF"/>
                </a:solidFill>
                <a:latin typeface="Calibri" pitchFamily="34" charset="0"/>
                <a:ea typeface="Calibri" pitchFamily="34" charset="-122"/>
                <a:cs typeface="Calibri" pitchFamily="34" charset="-120"/>
              </a:rPr>
              <a:t>VISUALIZATION  •  READERS</a:t>
            </a:r>
            <a:endParaRPr lang="en-US" sz="1000" dirty="0"/>
          </a:p>
        </p:txBody>
      </p:sp>
      <p:sp>
        <p:nvSpPr>
          <p:cNvPr id="3" name="Text 1"/>
          <p:cNvSpPr txBox="1"/>
          <p:nvPr/>
        </p:nvSpPr>
        <p:spPr>
          <a:xfrm>
            <a:off x="457200" y="530352"/>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Readers Rate and Want to Read</a:t>
            </a:r>
            <a:endParaRPr lang="en-US" sz="26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A9BCE0"/>
                </a:solidFill>
                <a:latin typeface="Calibri" pitchFamily="34" charset="0"/>
                <a:ea typeface="Calibri" pitchFamily="34" charset="-122"/>
                <a:cs typeface="Calibri" pitchFamily="34" charset="-120"/>
              </a:rPr>
              <a:t>11 / 12</a:t>
            </a:r>
            <a:endParaRPr lang="en-US" sz="900" dirty="0"/>
          </a:p>
        </p:txBody>
      </p:sp>
      <p:sp>
        <p:nvSpPr>
          <p:cNvPr id="5" name="Shape 3"/>
          <p:cNvSpPr/>
          <p:nvPr/>
        </p:nvSpPr>
        <p:spPr>
          <a:xfrm>
            <a:off x="457200" y="1188720"/>
            <a:ext cx="3977640" cy="731520"/>
          </a:xfrm>
          <a:prstGeom prst="roundRect">
            <a:avLst>
              <a:gd name="adj" fmla="val 10000"/>
            </a:avLst>
          </a:prstGeom>
          <a:solidFill>
            <a:srgbClr val="070C22">
              <a:alpha val="92000"/>
            </a:srgbClr>
          </a:solidFill>
          <a:ln w="12700">
            <a:solidFill>
              <a:srgbClr val="2E4A8A"/>
            </a:solidFill>
            <a:prstDash val="solid"/>
          </a:ln>
        </p:spPr>
      </p:sp>
      <p:sp>
        <p:nvSpPr>
          <p:cNvPr id="6" name="Shape 4"/>
          <p:cNvSpPr/>
          <p:nvPr/>
        </p:nvSpPr>
        <p:spPr>
          <a:xfrm>
            <a:off x="594360" y="1298448"/>
            <a:ext cx="82296" cy="82296"/>
          </a:xfrm>
          <a:prstGeom prst="ellipse">
            <a:avLst/>
          </a:prstGeom>
          <a:solidFill>
            <a:srgbClr val="FF5F57"/>
          </a:solidFill>
          <a:ln w="12700">
            <a:solidFill>
              <a:srgbClr val="FF5F57"/>
            </a:solidFill>
            <a:prstDash val="solid"/>
          </a:ln>
        </p:spPr>
      </p:sp>
      <p:sp>
        <p:nvSpPr>
          <p:cNvPr id="7" name="Shape 5"/>
          <p:cNvSpPr/>
          <p:nvPr/>
        </p:nvSpPr>
        <p:spPr>
          <a:xfrm>
            <a:off x="731520" y="1298448"/>
            <a:ext cx="82296" cy="82296"/>
          </a:xfrm>
          <a:prstGeom prst="ellipse">
            <a:avLst/>
          </a:prstGeom>
          <a:solidFill>
            <a:srgbClr val="FEBC2E"/>
          </a:solidFill>
          <a:ln w="12700">
            <a:solidFill>
              <a:srgbClr val="FEBC2E"/>
            </a:solidFill>
            <a:prstDash val="solid"/>
          </a:ln>
        </p:spPr>
      </p:sp>
      <p:sp>
        <p:nvSpPr>
          <p:cNvPr id="8" name="Shape 6"/>
          <p:cNvSpPr/>
          <p:nvPr/>
        </p:nvSpPr>
        <p:spPr>
          <a:xfrm>
            <a:off x="868680" y="1298448"/>
            <a:ext cx="82296" cy="82296"/>
          </a:xfrm>
          <a:prstGeom prst="ellipse">
            <a:avLst/>
          </a:prstGeom>
          <a:solidFill>
            <a:srgbClr val="28C840"/>
          </a:solidFill>
          <a:ln w="12700">
            <a:solidFill>
              <a:srgbClr val="28C840"/>
            </a:solidFill>
            <a:prstDash val="solid"/>
          </a:ln>
        </p:spPr>
      </p:sp>
      <p:sp>
        <p:nvSpPr>
          <p:cNvPr id="9" name="Text 7"/>
          <p:cNvSpPr txBox="1"/>
          <p:nvPr/>
        </p:nvSpPr>
        <p:spPr>
          <a:xfrm>
            <a:off x="1051560" y="1243584"/>
            <a:ext cx="3246120" cy="182880"/>
          </a:xfrm>
          <a:prstGeom prst="rect">
            <a:avLst/>
          </a:prstGeom>
          <a:noFill/>
          <a:ln/>
        </p:spPr>
        <p:txBody>
          <a:bodyPr wrap="square" lIns="0" tIns="0" rIns="0" bIns="0" rtlCol="0" anchor="ctr"/>
          <a:lstStyle/>
          <a:p>
            <a:pPr indent="0" marL="0">
              <a:buNone/>
            </a:pPr>
            <a:r>
              <a:rPr lang="en-US" sz="800" dirty="0">
                <a:solidFill>
                  <a:srgbClr val="A9BCE0"/>
                </a:solidFill>
                <a:latin typeface="Courier New" pitchFamily="34" charset="0"/>
                <a:ea typeface="Courier New" pitchFamily="34" charset="-122"/>
                <a:cs typeface="Courier New" pitchFamily="34" charset="-120"/>
              </a:rPr>
              <a:t>average rating by genre</a:t>
            </a:r>
            <a:endParaRPr lang="en-US" sz="800" dirty="0"/>
          </a:p>
        </p:txBody>
      </p:sp>
      <p:sp>
        <p:nvSpPr>
          <p:cNvPr id="10" name="Text 8"/>
          <p:cNvSpPr txBox="1"/>
          <p:nvPr/>
        </p:nvSpPr>
        <p:spPr>
          <a:xfrm>
            <a:off x="621792" y="1517904"/>
            <a:ext cx="3703320" cy="310896"/>
          </a:xfrm>
          <a:prstGeom prst="rect">
            <a:avLst/>
          </a:prstGeom>
          <a:noFill/>
          <a:ln/>
        </p:spPr>
        <p:txBody>
          <a:bodyPr wrap="square" lIns="0" tIns="0" rIns="0" bIns="0" rtlCol="0" anchor="t"/>
          <a:lstStyle/>
          <a:p>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rs</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groupby</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F7B267"/>
                </a:solidFill>
                <a:latin typeface="Courier New" pitchFamily="34" charset="0"/>
                <a:ea typeface="Courier New" pitchFamily="34" charset="-122"/>
                <a:cs typeface="Courier New" pitchFamily="34" charset="-120"/>
              </a:rPr>
              <a:t>"Genre"</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F7B267"/>
                </a:solidFill>
                <a:latin typeface="Courier New" pitchFamily="34" charset="0"/>
                <a:ea typeface="Courier New" pitchFamily="34" charset="-122"/>
                <a:cs typeface="Courier New" pitchFamily="34" charset="-120"/>
              </a:rPr>
              <a:t>"Average_Rating"</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mean</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endParaRPr lang="en-US" sz="850" dirty="0"/>
          </a:p>
          <a:p>
            <a:pPr indent="0" marL="0">
              <a:lnSpc>
                <a:spcPct val="100000"/>
              </a:lnSpc>
              <a:buNone/>
            </a:pPr>
            <a:r>
              <a:rPr lang="en-US" sz="850" dirty="0">
                <a:solidFill>
                  <a:srgbClr val="7FE3FF"/>
                </a:solidFill>
                <a:latin typeface="Courier New" pitchFamily="34" charset="0"/>
                <a:ea typeface="Courier New" pitchFamily="34" charset="-122"/>
                <a:cs typeface="Courier New" pitchFamily="34" charset="-120"/>
              </a:rPr>
              <a:t>ax</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barh</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rs</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index</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rs</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values</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endParaRPr lang="en-US" sz="850" dirty="0"/>
          </a:p>
        </p:txBody>
      </p:sp>
      <p:pic>
        <p:nvPicPr>
          <p:cNvPr id="11" name="Image 0" descr="/mnt/user-data/outputs/charts/05_rating_by_genre.png">    </p:cNvPr>
          <p:cNvPicPr>
            <a:picLocks noChangeAspect="1"/>
          </p:cNvPicPr>
          <p:nvPr/>
        </p:nvPicPr>
        <p:blipFill>
          <a:blip r:embed="rId2"/>
          <a:stretch>
            <a:fillRect/>
          </a:stretch>
        </p:blipFill>
        <p:spPr>
          <a:xfrm>
            <a:off x="457200" y="2011680"/>
            <a:ext cx="3977640" cy="2225876"/>
          </a:xfrm>
          <a:prstGeom prst="rect">
            <a:avLst/>
          </a:prstGeom>
        </p:spPr>
      </p:pic>
      <p:sp>
        <p:nvSpPr>
          <p:cNvPr id="12" name="Text 9"/>
          <p:cNvSpPr txBox="1"/>
          <p:nvPr/>
        </p:nvSpPr>
        <p:spPr>
          <a:xfrm>
            <a:off x="457200" y="4328996"/>
            <a:ext cx="3977640" cy="274320"/>
          </a:xfrm>
          <a:prstGeom prst="rect">
            <a:avLst/>
          </a:prstGeom>
          <a:noFill/>
          <a:ln/>
        </p:spPr>
        <p:txBody>
          <a:bodyPr wrap="square" lIns="0" tIns="0" rIns="0" bIns="0" rtlCol="0" anchor="ctr"/>
          <a:lstStyle/>
          <a:p>
            <a:pPr indent="0" marL="0">
              <a:buNone/>
            </a:pPr>
            <a:r>
              <a:rPr lang="en-US" sz="1050" b="1" dirty="0">
                <a:solidFill>
                  <a:srgbClr val="34E3A8"/>
                </a:solidFill>
                <a:latin typeface="Calibri" pitchFamily="34" charset="0"/>
                <a:ea typeface="Calibri" pitchFamily="34" charset="-122"/>
                <a:cs typeface="Calibri" pitchFamily="34" charset="-120"/>
              </a:rPr>
              <a:t>Young Adult </a:t>
            </a:r>
            <a:pPr indent="0" marL="0">
              <a:buNone/>
            </a:pPr>
            <a:r>
              <a:rPr lang="en-US" sz="1050" dirty="0">
                <a:solidFill>
                  <a:srgbClr val="FFFFFF"/>
                </a:solidFill>
                <a:latin typeface="Calibri" pitchFamily="34" charset="0"/>
                <a:ea typeface="Calibri" pitchFamily="34" charset="-122"/>
                <a:cs typeface="Calibri" pitchFamily="34" charset="-120"/>
              </a:rPr>
              <a:t>has the highest average rating (4.34)</a:t>
            </a:r>
            <a:endParaRPr lang="en-US" sz="1050" dirty="0"/>
          </a:p>
        </p:txBody>
      </p:sp>
      <p:sp>
        <p:nvSpPr>
          <p:cNvPr id="13" name="Shape 10"/>
          <p:cNvSpPr/>
          <p:nvPr/>
        </p:nvSpPr>
        <p:spPr>
          <a:xfrm>
            <a:off x="4709160" y="1188720"/>
            <a:ext cx="3977640" cy="731520"/>
          </a:xfrm>
          <a:prstGeom prst="roundRect">
            <a:avLst>
              <a:gd name="adj" fmla="val 10000"/>
            </a:avLst>
          </a:prstGeom>
          <a:solidFill>
            <a:srgbClr val="070C22">
              <a:alpha val="92000"/>
            </a:srgbClr>
          </a:solidFill>
          <a:ln w="12700">
            <a:solidFill>
              <a:srgbClr val="2E4A8A"/>
            </a:solidFill>
            <a:prstDash val="solid"/>
          </a:ln>
        </p:spPr>
      </p:sp>
      <p:sp>
        <p:nvSpPr>
          <p:cNvPr id="14" name="Shape 11"/>
          <p:cNvSpPr/>
          <p:nvPr/>
        </p:nvSpPr>
        <p:spPr>
          <a:xfrm>
            <a:off x="4846320" y="1298448"/>
            <a:ext cx="82296" cy="82296"/>
          </a:xfrm>
          <a:prstGeom prst="ellipse">
            <a:avLst/>
          </a:prstGeom>
          <a:solidFill>
            <a:srgbClr val="FF5F57"/>
          </a:solidFill>
          <a:ln w="12700">
            <a:solidFill>
              <a:srgbClr val="FF5F57"/>
            </a:solidFill>
            <a:prstDash val="solid"/>
          </a:ln>
        </p:spPr>
      </p:sp>
      <p:sp>
        <p:nvSpPr>
          <p:cNvPr id="15" name="Shape 12"/>
          <p:cNvSpPr/>
          <p:nvPr/>
        </p:nvSpPr>
        <p:spPr>
          <a:xfrm>
            <a:off x="4983480" y="1298448"/>
            <a:ext cx="82296" cy="82296"/>
          </a:xfrm>
          <a:prstGeom prst="ellipse">
            <a:avLst/>
          </a:prstGeom>
          <a:solidFill>
            <a:srgbClr val="FEBC2E"/>
          </a:solidFill>
          <a:ln w="12700">
            <a:solidFill>
              <a:srgbClr val="FEBC2E"/>
            </a:solidFill>
            <a:prstDash val="solid"/>
          </a:ln>
        </p:spPr>
      </p:sp>
      <p:sp>
        <p:nvSpPr>
          <p:cNvPr id="16" name="Shape 13"/>
          <p:cNvSpPr/>
          <p:nvPr/>
        </p:nvSpPr>
        <p:spPr>
          <a:xfrm>
            <a:off x="5120640" y="1298448"/>
            <a:ext cx="82296" cy="82296"/>
          </a:xfrm>
          <a:prstGeom prst="ellipse">
            <a:avLst/>
          </a:prstGeom>
          <a:solidFill>
            <a:srgbClr val="28C840"/>
          </a:solidFill>
          <a:ln w="12700">
            <a:solidFill>
              <a:srgbClr val="28C840"/>
            </a:solidFill>
            <a:prstDash val="solid"/>
          </a:ln>
        </p:spPr>
      </p:sp>
      <p:sp>
        <p:nvSpPr>
          <p:cNvPr id="17" name="Text 14"/>
          <p:cNvSpPr txBox="1"/>
          <p:nvPr/>
        </p:nvSpPr>
        <p:spPr>
          <a:xfrm>
            <a:off x="5303520" y="1243584"/>
            <a:ext cx="3246120" cy="182880"/>
          </a:xfrm>
          <a:prstGeom prst="rect">
            <a:avLst/>
          </a:prstGeom>
          <a:noFill/>
          <a:ln/>
        </p:spPr>
        <p:txBody>
          <a:bodyPr wrap="square" lIns="0" tIns="0" rIns="0" bIns="0" rtlCol="0" anchor="ctr"/>
          <a:lstStyle/>
          <a:p>
            <a:pPr indent="0" marL="0">
              <a:buNone/>
            </a:pPr>
            <a:r>
              <a:rPr lang="en-US" sz="800" dirty="0">
                <a:solidFill>
                  <a:srgbClr val="A9BCE0"/>
                </a:solidFill>
                <a:latin typeface="Courier New" pitchFamily="34" charset="0"/>
                <a:ea typeface="Courier New" pitchFamily="34" charset="-122"/>
                <a:cs typeface="Courier New" pitchFamily="34" charset="-120"/>
              </a:rPr>
              <a:t>top 10 most wanted</a:t>
            </a:r>
            <a:endParaRPr lang="en-US" sz="800" dirty="0"/>
          </a:p>
        </p:txBody>
      </p:sp>
      <p:sp>
        <p:nvSpPr>
          <p:cNvPr id="18" name="Text 15"/>
          <p:cNvSpPr txBox="1"/>
          <p:nvPr/>
        </p:nvSpPr>
        <p:spPr>
          <a:xfrm>
            <a:off x="4873752" y="1517904"/>
            <a:ext cx="3703320" cy="310896"/>
          </a:xfrm>
          <a:prstGeom prst="rect">
            <a:avLst/>
          </a:prstGeom>
          <a:noFill/>
          <a:ln/>
        </p:spPr>
        <p:txBody>
          <a:bodyPr wrap="square" lIns="0" tIns="0" rIns="0" bIns="0" rtlCol="0" anchor="t"/>
          <a:lstStyle/>
          <a:p>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top</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7FE3FF"/>
                </a:solidFill>
                <a:latin typeface="Courier New" pitchFamily="34" charset="0"/>
                <a:ea typeface="Courier New" pitchFamily="34" charset="-122"/>
                <a:cs typeface="Courier New" pitchFamily="34" charset="-120"/>
              </a:rPr>
              <a:t>df</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nlargest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(10,</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F7B267"/>
                </a:solidFill>
                <a:latin typeface="Courier New" pitchFamily="34" charset="0"/>
                <a:ea typeface="Courier New" pitchFamily="34" charset="-122"/>
                <a:cs typeface="Courier New" pitchFamily="34" charset="-120"/>
              </a:rPr>
              <a:t>"Want_To_Read_Count"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endParaRPr lang="en-US" sz="850" dirty="0"/>
          </a:p>
          <a:p>
            <a:pPr indent="0" marL="0">
              <a:lnSpc>
                <a:spcPct val="100000"/>
              </a:lnSpc>
              <a:buNone/>
            </a:pPr>
            <a:r>
              <a:rPr lang="en-US" sz="850" dirty="0">
                <a:solidFill>
                  <a:srgbClr val="7FE3FF"/>
                </a:solidFill>
                <a:latin typeface="Courier New" pitchFamily="34" charset="0"/>
                <a:ea typeface="Courier New" pitchFamily="34" charset="-122"/>
                <a:cs typeface="Courier New" pitchFamily="34" charset="-120"/>
              </a:rPr>
              <a:t>ax</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barh</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top</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F7B267"/>
                </a:solidFill>
                <a:latin typeface="Courier New" pitchFamily="34" charset="0"/>
                <a:ea typeface="Courier New" pitchFamily="34" charset="-122"/>
                <a:cs typeface="Courier New" pitchFamily="34" charset="-120"/>
              </a:rPr>
              <a:t>"Title"</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 </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top</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pPr indent="0" marL="0">
              <a:lnSpc>
                <a:spcPct val="100000"/>
              </a:lnSpc>
              <a:buNone/>
            </a:pPr>
            <a:r>
              <a:rPr lang="en-US" sz="850" dirty="0">
                <a:solidFill>
                  <a:srgbClr val="F7B267"/>
                </a:solidFill>
                <a:latin typeface="Courier New" pitchFamily="34" charset="0"/>
                <a:ea typeface="Courier New" pitchFamily="34" charset="-122"/>
                <a:cs typeface="Courier New" pitchFamily="34" charset="-120"/>
              </a:rPr>
              <a:t>"Want_To_Read_Count"</a:t>
            </a:r>
            <a:pPr indent="0" marL="0">
              <a:lnSpc>
                <a:spcPct val="100000"/>
              </a:lnSpc>
              <a:buNone/>
            </a:pPr>
            <a:r>
              <a:rPr lang="en-US" sz="850" dirty="0">
                <a:solidFill>
                  <a:srgbClr val="E6EDF7"/>
                </a:solidFill>
                <a:latin typeface="Courier New" pitchFamily="34" charset="0"/>
                <a:ea typeface="Courier New" pitchFamily="34" charset="-122"/>
                <a:cs typeface="Courier New" pitchFamily="34" charset="-120"/>
              </a:rPr>
              <a:t>])</a:t>
            </a:r>
            <a:endParaRPr lang="en-US" sz="850" dirty="0"/>
          </a:p>
        </p:txBody>
      </p:sp>
      <p:pic>
        <p:nvPicPr>
          <p:cNvPr id="19" name="Image 1" descr="/mnt/user-data/outputs/charts/06_top10_most_wanted.png">    </p:cNvPr>
          <p:cNvPicPr>
            <a:picLocks noChangeAspect="1"/>
          </p:cNvPicPr>
          <p:nvPr/>
        </p:nvPicPr>
        <p:blipFill>
          <a:blip r:embed="rId3"/>
          <a:stretch>
            <a:fillRect/>
          </a:stretch>
        </p:blipFill>
        <p:spPr>
          <a:xfrm>
            <a:off x="4709160" y="2011680"/>
            <a:ext cx="3977640" cy="2170016"/>
          </a:xfrm>
          <a:prstGeom prst="rect">
            <a:avLst/>
          </a:prstGeom>
        </p:spPr>
      </p:pic>
      <p:sp>
        <p:nvSpPr>
          <p:cNvPr id="20" name="Text 16"/>
          <p:cNvSpPr txBox="1"/>
          <p:nvPr/>
        </p:nvSpPr>
        <p:spPr>
          <a:xfrm>
            <a:off x="4709160" y="4273136"/>
            <a:ext cx="3977640" cy="274320"/>
          </a:xfrm>
          <a:prstGeom prst="rect">
            <a:avLst/>
          </a:prstGeom>
          <a:noFill/>
          <a:ln/>
        </p:spPr>
        <p:txBody>
          <a:bodyPr wrap="square" lIns="0" tIns="0" rIns="0" bIns="0" rtlCol="0" anchor="ctr"/>
          <a:lstStyle/>
          <a:p>
            <a:pPr indent="0" marL="0">
              <a:buNone/>
            </a:pPr>
            <a:r>
              <a:rPr lang="en-US" sz="1050" b="1" dirty="0">
                <a:solidFill>
                  <a:srgbClr val="34E3A8"/>
                </a:solidFill>
                <a:latin typeface="Calibri" pitchFamily="34" charset="0"/>
                <a:ea typeface="Calibri" pitchFamily="34" charset="-122"/>
                <a:cs typeface="Calibri" pitchFamily="34" charset="-120"/>
              </a:rPr>
              <a:t>Fifty Shades of Grey </a:t>
            </a:r>
            <a:pPr indent="0" marL="0">
              <a:buNone/>
            </a:pPr>
            <a:r>
              <a:rPr lang="en-US" sz="1050" dirty="0">
                <a:solidFill>
                  <a:srgbClr val="FFFFFF"/>
                </a:solidFill>
                <a:latin typeface="Calibri" pitchFamily="34" charset="0"/>
                <a:ea typeface="Calibri" pitchFamily="34" charset="-122"/>
                <a:cs typeface="Calibri" pitchFamily="34" charset="-120"/>
              </a:rPr>
              <a:t>is the most wanted (6,030 readers)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6400800" cy="256032"/>
          </a:xfrm>
          <a:prstGeom prst="rect">
            <a:avLst/>
          </a:prstGeom>
          <a:noFill/>
          <a:ln/>
        </p:spPr>
        <p:txBody>
          <a:bodyPr wrap="square" lIns="0" tIns="0" rIns="0" bIns="0" rtlCol="0" anchor="ctr"/>
          <a:lstStyle/>
          <a:p>
            <a:pPr indent="0" marL="0">
              <a:buNone/>
            </a:pPr>
            <a:r>
              <a:rPr lang="en-US" sz="1000" b="1" spc="400" kern="0" dirty="0">
                <a:solidFill>
                  <a:srgbClr val="00D4FF"/>
                </a:solidFill>
                <a:latin typeface="Calibri" pitchFamily="34" charset="0"/>
                <a:ea typeface="Calibri" pitchFamily="34" charset="-122"/>
                <a:cs typeface="Calibri" pitchFamily="34" charset="-120"/>
              </a:rPr>
              <a:t>VISUALIZATION  •  WHAT WE LEARNED</a:t>
            </a:r>
            <a:endParaRPr lang="en-US" sz="1000" dirty="0"/>
          </a:p>
        </p:txBody>
      </p:sp>
      <p:sp>
        <p:nvSpPr>
          <p:cNvPr id="3" name="Text 1"/>
          <p:cNvSpPr txBox="1"/>
          <p:nvPr/>
        </p:nvSpPr>
        <p:spPr>
          <a:xfrm>
            <a:off x="457200" y="530352"/>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Key Insights from the Clean Data</a:t>
            </a:r>
            <a:endParaRPr lang="en-US" sz="2600" dirty="0"/>
          </a:p>
        </p:txBody>
      </p:sp>
      <p:sp>
        <p:nvSpPr>
          <p:cNvPr id="4" name="Text 2"/>
          <p:cNvSpPr txBox="1"/>
          <p:nvPr/>
        </p:nvSpPr>
        <p:spPr>
          <a:xfrm>
            <a:off x="7772400" y="4754880"/>
            <a:ext cx="914400" cy="228600"/>
          </a:xfrm>
          <a:prstGeom prst="rect">
            <a:avLst/>
          </a:prstGeom>
          <a:noFill/>
          <a:ln/>
        </p:spPr>
        <p:txBody>
          <a:bodyPr wrap="square" lIns="0" tIns="0" rIns="0" bIns="0" rtlCol="0" anchor="ctr"/>
          <a:lstStyle/>
          <a:p>
            <a:pPr algn="r" indent="0" marL="0">
              <a:buNone/>
            </a:pPr>
            <a:r>
              <a:rPr lang="en-US" sz="900" dirty="0">
                <a:solidFill>
                  <a:srgbClr val="A9BCE0"/>
                </a:solidFill>
                <a:latin typeface="Calibri" pitchFamily="34" charset="0"/>
                <a:ea typeface="Calibri" pitchFamily="34" charset="-122"/>
                <a:cs typeface="Calibri" pitchFamily="34" charset="-120"/>
              </a:rPr>
              <a:t>12 / 12</a:t>
            </a:r>
            <a:endParaRPr lang="en-US" sz="900" dirty="0"/>
          </a:p>
        </p:txBody>
      </p:sp>
      <p:sp>
        <p:nvSpPr>
          <p:cNvPr id="5" name="Shape 3"/>
          <p:cNvSpPr/>
          <p:nvPr/>
        </p:nvSpPr>
        <p:spPr>
          <a:xfrm>
            <a:off x="457200" y="1234440"/>
            <a:ext cx="3749040" cy="731520"/>
          </a:xfrm>
          <a:prstGeom prst="roundRect">
            <a:avLst>
              <a:gd name="adj" fmla="val 12500"/>
            </a:avLst>
          </a:prstGeom>
          <a:solidFill>
            <a:srgbClr val="1A2550">
              <a:alpha val="75000"/>
            </a:srgbClr>
          </a:solidFill>
          <a:ln w="12700">
            <a:solidFill>
              <a:srgbClr val="00D4FF"/>
            </a:solidFill>
            <a:prstDash val="solid"/>
          </a:ln>
        </p:spPr>
      </p:sp>
      <p:sp>
        <p:nvSpPr>
          <p:cNvPr id="6" name="Text 4"/>
          <p:cNvSpPr txBox="1"/>
          <p:nvPr/>
        </p:nvSpPr>
        <p:spPr>
          <a:xfrm>
            <a:off x="594360" y="1325880"/>
            <a:ext cx="1234440" cy="548640"/>
          </a:xfrm>
          <a:prstGeom prst="rect">
            <a:avLst/>
          </a:prstGeom>
          <a:noFill/>
          <a:ln/>
        </p:spPr>
        <p:txBody>
          <a:bodyPr wrap="square" lIns="0" tIns="0" rIns="0" bIns="0" rtlCol="0" anchor="ctr"/>
          <a:lstStyle/>
          <a:p>
            <a:pPr indent="0" marL="0">
              <a:buNone/>
            </a:pPr>
            <a:r>
              <a:rPr lang="en-US" sz="2200" b="1" dirty="0">
                <a:solidFill>
                  <a:srgbClr val="00D4FF"/>
                </a:solidFill>
                <a:latin typeface="Calibri" pitchFamily="34" charset="0"/>
                <a:ea typeface="Calibri" pitchFamily="34" charset="-122"/>
                <a:cs typeface="Calibri" pitchFamily="34" charset="-120"/>
              </a:rPr>
              <a:t>r = 0.09</a:t>
            </a:r>
            <a:endParaRPr lang="en-US" sz="2200" dirty="0"/>
          </a:p>
        </p:txBody>
      </p:sp>
      <p:sp>
        <p:nvSpPr>
          <p:cNvPr id="7" name="Text 5"/>
          <p:cNvSpPr txBox="1"/>
          <p:nvPr/>
        </p:nvSpPr>
        <p:spPr>
          <a:xfrm>
            <a:off x="1874520" y="1307592"/>
            <a:ext cx="2240280" cy="585216"/>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More editions ≠ higher rating. Popularity and quality are different things.</a:t>
            </a:r>
            <a:endParaRPr lang="en-US" sz="1050" dirty="0"/>
          </a:p>
        </p:txBody>
      </p:sp>
      <p:sp>
        <p:nvSpPr>
          <p:cNvPr id="8" name="Shape 6"/>
          <p:cNvSpPr/>
          <p:nvPr/>
        </p:nvSpPr>
        <p:spPr>
          <a:xfrm>
            <a:off x="457200" y="2084832"/>
            <a:ext cx="3749040" cy="731520"/>
          </a:xfrm>
          <a:prstGeom prst="roundRect">
            <a:avLst>
              <a:gd name="adj" fmla="val 12500"/>
            </a:avLst>
          </a:prstGeom>
          <a:solidFill>
            <a:srgbClr val="1A2550">
              <a:alpha val="75000"/>
            </a:srgbClr>
          </a:solidFill>
          <a:ln w="12700">
            <a:solidFill>
              <a:srgbClr val="00D4FF"/>
            </a:solidFill>
            <a:prstDash val="solid"/>
          </a:ln>
        </p:spPr>
      </p:sp>
      <p:sp>
        <p:nvSpPr>
          <p:cNvPr id="9" name="Text 7"/>
          <p:cNvSpPr txBox="1"/>
          <p:nvPr/>
        </p:nvSpPr>
        <p:spPr>
          <a:xfrm>
            <a:off x="594360" y="2176272"/>
            <a:ext cx="1234440" cy="548640"/>
          </a:xfrm>
          <a:prstGeom prst="rect">
            <a:avLst/>
          </a:prstGeom>
          <a:noFill/>
          <a:ln/>
        </p:spPr>
        <p:txBody>
          <a:bodyPr wrap="square" lIns="0" tIns="0" rIns="0" bIns="0" rtlCol="0" anchor="ctr"/>
          <a:lstStyle/>
          <a:p>
            <a:pPr indent="0" marL="0">
              <a:buNone/>
            </a:pPr>
            <a:r>
              <a:rPr lang="en-US" sz="2200" b="1" dirty="0">
                <a:solidFill>
                  <a:srgbClr val="00D4FF"/>
                </a:solidFill>
                <a:latin typeface="Calibri" pitchFamily="34" charset="0"/>
                <a:ea typeface="Calibri" pitchFamily="34" charset="-122"/>
                <a:cs typeface="Calibri" pitchFamily="34" charset="-120"/>
              </a:rPr>
              <a:t>2000s</a:t>
            </a:r>
            <a:endParaRPr lang="en-US" sz="2200" dirty="0"/>
          </a:p>
        </p:txBody>
      </p:sp>
      <p:sp>
        <p:nvSpPr>
          <p:cNvPr id="10" name="Text 8"/>
          <p:cNvSpPr txBox="1"/>
          <p:nvPr/>
        </p:nvSpPr>
        <p:spPr>
          <a:xfrm>
            <a:off x="1874520" y="2157984"/>
            <a:ext cx="2240280" cy="585216"/>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The busiest publishing decade in our dataset (308 books).</a:t>
            </a:r>
            <a:endParaRPr lang="en-US" sz="1050" dirty="0"/>
          </a:p>
        </p:txBody>
      </p:sp>
      <p:sp>
        <p:nvSpPr>
          <p:cNvPr id="11" name="Shape 9"/>
          <p:cNvSpPr/>
          <p:nvPr/>
        </p:nvSpPr>
        <p:spPr>
          <a:xfrm>
            <a:off x="457200" y="2935224"/>
            <a:ext cx="3749040" cy="731520"/>
          </a:xfrm>
          <a:prstGeom prst="roundRect">
            <a:avLst>
              <a:gd name="adj" fmla="val 12500"/>
            </a:avLst>
          </a:prstGeom>
          <a:solidFill>
            <a:srgbClr val="1A2550">
              <a:alpha val="75000"/>
            </a:srgbClr>
          </a:solidFill>
          <a:ln w="12700">
            <a:solidFill>
              <a:srgbClr val="00D4FF"/>
            </a:solidFill>
            <a:prstDash val="solid"/>
          </a:ln>
        </p:spPr>
      </p:sp>
      <p:sp>
        <p:nvSpPr>
          <p:cNvPr id="12" name="Text 10"/>
          <p:cNvSpPr txBox="1"/>
          <p:nvPr/>
        </p:nvSpPr>
        <p:spPr>
          <a:xfrm>
            <a:off x="594360" y="3026664"/>
            <a:ext cx="1234440" cy="548640"/>
          </a:xfrm>
          <a:prstGeom prst="rect">
            <a:avLst/>
          </a:prstGeom>
          <a:noFill/>
          <a:ln/>
        </p:spPr>
        <p:txBody>
          <a:bodyPr wrap="square" lIns="0" tIns="0" rIns="0" bIns="0" rtlCol="0" anchor="ctr"/>
          <a:lstStyle/>
          <a:p>
            <a:pPr indent="0" marL="0">
              <a:buNone/>
            </a:pPr>
            <a:r>
              <a:rPr lang="en-US" sz="2200" b="1" dirty="0">
                <a:solidFill>
                  <a:srgbClr val="00D4FF"/>
                </a:solidFill>
                <a:latin typeface="Calibri" pitchFamily="34" charset="0"/>
                <a:ea typeface="Calibri" pitchFamily="34" charset="-122"/>
                <a:cs typeface="Calibri" pitchFamily="34" charset="-120"/>
              </a:rPr>
              <a:t>90%</a:t>
            </a:r>
            <a:endParaRPr lang="en-US" sz="2200" dirty="0"/>
          </a:p>
        </p:txBody>
      </p:sp>
      <p:sp>
        <p:nvSpPr>
          <p:cNvPr id="13" name="Text 11"/>
          <p:cNvSpPr txBox="1"/>
          <p:nvPr/>
        </p:nvSpPr>
        <p:spPr>
          <a:xfrm>
            <a:off x="1874520" y="3008376"/>
            <a:ext cx="2240280" cy="585216"/>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Books with a free ebook; Young Adult is lowest at 52%.</a:t>
            </a:r>
            <a:endParaRPr lang="en-US" sz="1050" dirty="0"/>
          </a:p>
        </p:txBody>
      </p:sp>
      <p:sp>
        <p:nvSpPr>
          <p:cNvPr id="14" name="Shape 12"/>
          <p:cNvSpPr/>
          <p:nvPr/>
        </p:nvSpPr>
        <p:spPr>
          <a:xfrm>
            <a:off x="457200" y="3785616"/>
            <a:ext cx="3749040" cy="731520"/>
          </a:xfrm>
          <a:prstGeom prst="roundRect">
            <a:avLst>
              <a:gd name="adj" fmla="val 12500"/>
            </a:avLst>
          </a:prstGeom>
          <a:solidFill>
            <a:srgbClr val="1A2550">
              <a:alpha val="75000"/>
            </a:srgbClr>
          </a:solidFill>
          <a:ln w="12700">
            <a:solidFill>
              <a:srgbClr val="00D4FF"/>
            </a:solidFill>
            <a:prstDash val="solid"/>
          </a:ln>
        </p:spPr>
      </p:sp>
      <p:sp>
        <p:nvSpPr>
          <p:cNvPr id="15" name="Text 13"/>
          <p:cNvSpPr txBox="1"/>
          <p:nvPr/>
        </p:nvSpPr>
        <p:spPr>
          <a:xfrm>
            <a:off x="594360" y="3877056"/>
            <a:ext cx="1234440" cy="548640"/>
          </a:xfrm>
          <a:prstGeom prst="rect">
            <a:avLst/>
          </a:prstGeom>
          <a:noFill/>
          <a:ln/>
        </p:spPr>
        <p:txBody>
          <a:bodyPr wrap="square" lIns="0" tIns="0" rIns="0" bIns="0" rtlCol="0" anchor="ctr"/>
          <a:lstStyle/>
          <a:p>
            <a:pPr indent="0" marL="0">
              <a:buNone/>
            </a:pPr>
            <a:r>
              <a:rPr lang="en-US" sz="2200" b="1" dirty="0">
                <a:solidFill>
                  <a:srgbClr val="00D4FF"/>
                </a:solidFill>
                <a:latin typeface="Calibri" pitchFamily="34" charset="0"/>
                <a:ea typeface="Calibri" pitchFamily="34" charset="-122"/>
                <a:cs typeface="Calibri" pitchFamily="34" charset="-120"/>
              </a:rPr>
              <a:t>308</a:t>
            </a:r>
            <a:endParaRPr lang="en-US" sz="2200" dirty="0"/>
          </a:p>
        </p:txBody>
      </p:sp>
      <p:sp>
        <p:nvSpPr>
          <p:cNvPr id="16" name="Text 14"/>
          <p:cNvSpPr txBox="1"/>
          <p:nvPr/>
        </p:nvSpPr>
        <p:spPr>
          <a:xfrm>
            <a:off x="1874520" y="3858768"/>
            <a:ext cx="2240280" cy="585216"/>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Median book length in pages.</a:t>
            </a:r>
            <a:endParaRPr lang="en-US" sz="1050" dirty="0"/>
          </a:p>
        </p:txBody>
      </p:sp>
      <p:pic>
        <p:nvPicPr>
          <p:cNvPr id="17" name="Image 0" descr="/mnt/user-data/outputs/charts/08_editions_vs_rating.png">    </p:cNvPr>
          <p:cNvPicPr>
            <a:picLocks noChangeAspect="1"/>
          </p:cNvPicPr>
          <p:nvPr/>
        </p:nvPicPr>
        <p:blipFill>
          <a:blip r:embed="rId2"/>
          <a:stretch>
            <a:fillRect/>
          </a:stretch>
        </p:blipFill>
        <p:spPr>
          <a:xfrm>
            <a:off x="4480560" y="1234440"/>
            <a:ext cx="4206240" cy="2439814"/>
          </a:xfrm>
          <a:prstGeom prst="rect">
            <a:avLst/>
          </a:prstGeom>
        </p:spPr>
      </p:pic>
      <p:sp>
        <p:nvSpPr>
          <p:cNvPr id="18" name="Text 15"/>
          <p:cNvSpPr txBox="1"/>
          <p:nvPr/>
        </p:nvSpPr>
        <p:spPr>
          <a:xfrm>
            <a:off x="4480560" y="3783982"/>
            <a:ext cx="4206240" cy="274320"/>
          </a:xfrm>
          <a:prstGeom prst="rect">
            <a:avLst/>
          </a:prstGeom>
          <a:noFill/>
          <a:ln/>
        </p:spPr>
        <p:txBody>
          <a:bodyPr wrap="square" lIns="0" tIns="0" rIns="0" bIns="0" rtlCol="0" anchor="ctr"/>
          <a:lstStyle/>
          <a:p>
            <a:pPr indent="0" marL="0">
              <a:buNone/>
            </a:pPr>
            <a:r>
              <a:rPr lang="en-US" sz="1000" i="1" dirty="0">
                <a:solidFill>
                  <a:srgbClr val="A9BCE0"/>
                </a:solidFill>
                <a:latin typeface="Calibri" pitchFamily="34" charset="0"/>
                <a:ea typeface="Calibri" pitchFamily="34" charset="-122"/>
                <a:cs typeface="Calibri" pitchFamily="34" charset="-120"/>
              </a:rPr>
              <a:t>Each bubble is a book: editions (x) vs rating (y). No clear upward trend.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Collection, Wrangling &amp; Visualization — Book Dataset</dc:title>
  <dc:subject>PptxGenJS Presentation</dc:subject>
  <dc:creator>PptxGenJS</dc:creator>
  <cp:lastModifiedBy>PptxGenJS</cp:lastModifiedBy>
  <cp:revision>1</cp:revision>
  <dcterms:created xsi:type="dcterms:W3CDTF">2026-09-26T11:29:37Z</dcterms:created>
  <dcterms:modified xsi:type="dcterms:W3CDTF">2026-09-26T11:29:37Z</dcterms:modified>
</cp:coreProperties>
</file>